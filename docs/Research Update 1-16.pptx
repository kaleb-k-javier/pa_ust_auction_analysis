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58" r:id="rId4"/>
    <p:sldId id="259" r:id="rId5"/>
    <p:sldId id="261" r:id="rId6"/>
    <p:sldId id="260" r:id="rId7"/>
    <p:sldId id="264" r:id="rId8"/>
    <p:sldId id="262" r:id="rId9"/>
    <p:sldId id="263" r:id="rId10"/>
    <p:sldId id="268" r:id="rId11"/>
    <p:sldId id="265" r:id="rId12"/>
    <p:sldId id="266" r:id="rId13"/>
    <p:sldId id="267" r:id="rId14"/>
    <p:sldId id="269" r:id="rId15"/>
    <p:sldId id="270" r:id="rId16"/>
    <p:sldId id="271" r:id="rId17"/>
    <p:sldId id="272" r:id="rId18"/>
    <p:sldId id="273" r:id="rId19"/>
    <p:sldId id="274" r:id="rId20"/>
    <p:sldId id="279" r:id="rId21"/>
    <p:sldId id="275" r:id="rId22"/>
    <p:sldId id="276" r:id="rId23"/>
    <p:sldId id="284" r:id="rId24"/>
    <p:sldId id="285" r:id="rId25"/>
    <p:sldId id="286" r:id="rId26"/>
    <p:sldId id="280" r:id="rId27"/>
    <p:sldId id="293" r:id="rId28"/>
    <p:sldId id="281" r:id="rId29"/>
    <p:sldId id="282" r:id="rId30"/>
    <p:sldId id="283" r:id="rId31"/>
    <p:sldId id="287" r:id="rId32"/>
    <p:sldId id="288" r:id="rId33"/>
    <p:sldId id="289" r:id="rId34"/>
    <p:sldId id="291" r:id="rId35"/>
    <p:sldId id="290"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E498"/>
    <a:srgbClr val="EAE472"/>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58717" autoAdjust="0"/>
  </p:normalViewPr>
  <p:slideViewPr>
    <p:cSldViewPr snapToGrid="0">
      <p:cViewPr varScale="1">
        <p:scale>
          <a:sx n="65" d="100"/>
          <a:sy n="65" d="100"/>
        </p:scale>
        <p:origin x="22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05D307-6619-4501-97DA-F906A5EFF3AD}" type="datetimeFigureOut">
              <a:rPr lang="en-US" smtClean="0"/>
              <a:t>1/16/2026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6B66C-E0D9-4E12-9023-C99C46D6E7F8}" type="slidenum">
              <a:rPr lang="en-US" smtClean="0"/>
              <a:t>‹#›</a:t>
            </a:fld>
            <a:endParaRPr lang="en-US" dirty="0"/>
          </a:p>
        </p:txBody>
      </p:sp>
    </p:spTree>
    <p:extLst>
      <p:ext uri="{BB962C8B-B14F-4D97-AF65-F5344CB8AC3E}">
        <p14:creationId xmlns:p14="http://schemas.microsoft.com/office/powerpoint/2010/main" val="726875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t>
            </a:r>
            <a:r>
              <a:rPr lang="en-US" dirty="0" err="1"/>
              <a:t>efacts</a:t>
            </a:r>
            <a:r>
              <a:rPr lang="en-US" dirty="0"/>
              <a:t> at this time. Data was challenging to turn into usable variables. Future analysis can bring in violation history and penalties that current does not.</a:t>
            </a:r>
          </a:p>
        </p:txBody>
      </p:sp>
      <p:sp>
        <p:nvSpPr>
          <p:cNvPr id="4" name="Slide Number Placeholder 3"/>
          <p:cNvSpPr>
            <a:spLocks noGrp="1"/>
          </p:cNvSpPr>
          <p:nvPr>
            <p:ph type="sldNum" sz="quarter" idx="5"/>
          </p:nvPr>
        </p:nvSpPr>
        <p:spPr/>
        <p:txBody>
          <a:bodyPr/>
          <a:lstStyle/>
          <a:p>
            <a:fld id="{1D06B66C-E0D9-4E12-9023-C99C46D6E7F8}" type="slidenum">
              <a:rPr lang="en-US" smtClean="0"/>
              <a:t>3</a:t>
            </a:fld>
            <a:endParaRPr lang="en-US" dirty="0"/>
          </a:p>
        </p:txBody>
      </p:sp>
    </p:spTree>
    <p:extLst>
      <p:ext uri="{BB962C8B-B14F-4D97-AF65-F5344CB8AC3E}">
        <p14:creationId xmlns:p14="http://schemas.microsoft.com/office/powerpoint/2010/main" val="1818471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Visual Orientation:</a:t>
            </a:r>
            <a:r>
              <a:rPr lang="en-US" dirty="0"/>
              <a:t> "This table shows us the 'risk factors' that make a claim likely to be denied. The percentages show how much that specific factor increases or decreases the probability of denial."</a:t>
            </a:r>
          </a:p>
          <a:p>
            <a:r>
              <a:rPr lang="en-US" b="1" dirty="0"/>
              <a:t>The Takeaway:</a:t>
            </a:r>
            <a:r>
              <a:rPr lang="en-US" dirty="0"/>
              <a:t> Human behavior (filing history) is a stronger predictor of denial than the physical state of the tank.</a:t>
            </a:r>
          </a:p>
          <a:p>
            <a:r>
              <a:rPr lang="en-US" b="1" dirty="0"/>
              <a:t>Talking Points:</a:t>
            </a:r>
            <a:endParaRPr lang="en-US" dirty="0"/>
          </a:p>
          <a:p>
            <a:r>
              <a:rPr lang="en-US" b="1" dirty="0"/>
              <a:t>Repeat Filer (+12.8%):</a:t>
            </a:r>
            <a:r>
              <a:rPr lang="en-US" dirty="0"/>
              <a:t> If a facility has filed claims before, they are significantly more likely to be denied this time. This is our strongest signal. </a:t>
            </a:r>
          </a:p>
          <a:p>
            <a:r>
              <a:rPr lang="en-US" b="1" dirty="0"/>
              <a:t>Reporting Delay:</a:t>
            </a:r>
            <a:r>
              <a:rPr lang="en-US" dirty="0"/>
              <a:t> For every day a facility waits to report a leak, the chance of denial creeps up. </a:t>
            </a:r>
          </a:p>
          <a:p>
            <a:r>
              <a:rPr lang="en-US" b="1" dirty="0"/>
              <a:t>The Counter-Intuitive Finding:</a:t>
            </a:r>
            <a:r>
              <a:rPr lang="en-US" dirty="0"/>
              <a:t> You might see that </a:t>
            </a:r>
            <a:r>
              <a:rPr lang="en-US" i="1" dirty="0"/>
              <a:t>Single-Walled Systems</a:t>
            </a:r>
            <a:r>
              <a:rPr lang="en-US" dirty="0"/>
              <a:t> (usually risky) are </a:t>
            </a:r>
            <a:r>
              <a:rPr lang="en-US" i="1" dirty="0"/>
              <a:t>less</a:t>
            </a:r>
            <a:r>
              <a:rPr lang="en-US" dirty="0"/>
              <a:t> likely to be denied. This likely means adjusters scrutinize these sites heavily upfront, or owners of these tanks are hyper-aware of compliance needs.</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6</a:t>
            </a:fld>
            <a:endParaRPr lang="en-US" dirty="0"/>
          </a:p>
        </p:txBody>
      </p:sp>
    </p:spTree>
    <p:extLst>
      <p:ext uri="{BB962C8B-B14F-4D97-AF65-F5344CB8AC3E}">
        <p14:creationId xmlns:p14="http://schemas.microsoft.com/office/powerpoint/2010/main" val="3213208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Feature Importance (Bar Chart)</a:t>
            </a:r>
          </a:p>
          <a:p>
            <a:r>
              <a:rPr lang="en-US" b="1" dirty="0"/>
              <a:t>Visual Orientation:</a:t>
            </a:r>
            <a:r>
              <a:rPr lang="en-US" dirty="0"/>
              <a:t> "We asked a Machine Learning model to look at every variable we have and rank them by how useful they are in predicting denial. The longer the bar, the more 'information' that variable holds."</a:t>
            </a:r>
          </a:p>
          <a:p>
            <a:r>
              <a:rPr lang="en-US" b="1" dirty="0"/>
              <a:t>The Takeaway:</a:t>
            </a:r>
            <a:r>
              <a:rPr lang="en-US" dirty="0"/>
              <a:t> History repeats itself. The strongest signals are behavioral, not physical.</a:t>
            </a:r>
          </a:p>
          <a:p>
            <a:r>
              <a:rPr lang="en-US" b="1" dirty="0"/>
              <a:t>Talking Points:</a:t>
            </a:r>
          </a:p>
          <a:p>
            <a:pPr lvl="1"/>
            <a:endParaRPr lang="en-US" dirty="0"/>
          </a:p>
          <a:p>
            <a:pPr lvl="1"/>
            <a:r>
              <a:rPr lang="en-US" dirty="0"/>
              <a:t>The top bar is </a:t>
            </a:r>
            <a:r>
              <a:rPr lang="en-US" b="1" dirty="0"/>
              <a:t>Days Since Prior Claim</a:t>
            </a:r>
            <a:r>
              <a:rPr lang="en-US" dirty="0"/>
              <a:t>. This confirms that the facility's history with the fund is the single best way to predict if a current claim is valid. </a:t>
            </a:r>
          </a:p>
          <a:p>
            <a:pPr lvl="1"/>
            <a:r>
              <a:rPr lang="en-US" dirty="0"/>
              <a:t>Physical traits like </a:t>
            </a:r>
            <a:r>
              <a:rPr lang="en-US" b="1" dirty="0"/>
              <a:t>Tank Age</a:t>
            </a:r>
            <a:r>
              <a:rPr lang="en-US" dirty="0"/>
              <a:t> and </a:t>
            </a:r>
            <a:r>
              <a:rPr lang="en-US" b="1" dirty="0"/>
              <a:t>Single-Walled status</a:t>
            </a:r>
            <a:r>
              <a:rPr lang="en-US" dirty="0"/>
              <a:t> matter, but they are secondary to the facility's operational history.</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7</a:t>
            </a:fld>
            <a:endParaRPr lang="en-US" dirty="0"/>
          </a:p>
        </p:txBody>
      </p:sp>
    </p:spTree>
    <p:extLst>
      <p:ext uri="{BB962C8B-B14F-4D97-AF65-F5344CB8AC3E}">
        <p14:creationId xmlns:p14="http://schemas.microsoft.com/office/powerpoint/2010/main" val="15649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Decision Tree (Flowchart)</a:t>
            </a:r>
          </a:p>
          <a:p>
            <a:r>
              <a:rPr lang="en-US" b="1" dirty="0"/>
              <a:t>Visual Orientation:</a:t>
            </a:r>
            <a:r>
              <a:rPr lang="en-US" dirty="0"/>
              <a:t> "This is a 'Decision Tree.' It simulates the logic flow of sorting claims. Read it from top to bottom."</a:t>
            </a:r>
          </a:p>
          <a:p>
            <a:r>
              <a:rPr lang="en-US" b="1" dirty="0"/>
              <a:t>The Takeaway:</a:t>
            </a:r>
            <a:r>
              <a:rPr lang="en-US" dirty="0"/>
              <a:t> We can segment claims into high-risk and low-risk buckets using just 2-3 questions.</a:t>
            </a:r>
          </a:p>
          <a:p>
            <a:r>
              <a:rPr lang="en-US" b="1" dirty="0"/>
              <a:t>Talking Points:</a:t>
            </a:r>
            <a:endParaRPr lang="en-US" dirty="0"/>
          </a:p>
          <a:p>
            <a:pPr lvl="1"/>
            <a:r>
              <a:rPr lang="en-US" b="1" dirty="0"/>
              <a:t>The Left Path:</a:t>
            </a:r>
            <a:r>
              <a:rPr lang="en-US" dirty="0"/>
              <a:t> If the piping is Flexible (safer) and the claim is reported quickly (&lt; 267 days), the denial rate drops to </a:t>
            </a:r>
            <a:r>
              <a:rPr lang="en-US" b="1" dirty="0"/>
              <a:t>10.4%</a:t>
            </a:r>
            <a:r>
              <a:rPr lang="en-US" dirty="0"/>
              <a:t>. These are our "safe" claims. </a:t>
            </a:r>
          </a:p>
          <a:p>
            <a:pPr lvl="1"/>
            <a:r>
              <a:rPr lang="en-US" b="1" dirty="0"/>
              <a:t>The Right Path:</a:t>
            </a:r>
            <a:r>
              <a:rPr lang="en-US" dirty="0"/>
              <a:t> If it takes a long time to report, and they haven't had a claim recently, the denial rate jumps to nearly </a:t>
            </a:r>
            <a:r>
              <a:rPr lang="en-US" b="1" dirty="0"/>
              <a:t>23%</a:t>
            </a:r>
            <a:r>
              <a:rPr lang="en-US" dirty="0"/>
              <a:t>. </a:t>
            </a:r>
          </a:p>
          <a:p>
            <a:pPr lvl="1"/>
            <a:r>
              <a:rPr lang="en-US" b="1" dirty="0"/>
              <a:t>Utility:</a:t>
            </a:r>
            <a:r>
              <a:rPr lang="en-US" dirty="0"/>
              <a:t> We can use this logic to "fast track" the left bucket and audit the right bucket.</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8</a:t>
            </a:fld>
            <a:endParaRPr lang="en-US" dirty="0"/>
          </a:p>
        </p:txBody>
      </p:sp>
    </p:spTree>
    <p:extLst>
      <p:ext uri="{BB962C8B-B14F-4D97-AF65-F5344CB8AC3E}">
        <p14:creationId xmlns:p14="http://schemas.microsoft.com/office/powerpoint/2010/main" val="3981620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10: Total Claim Cost Distribution (Histogram)</a:t>
            </a:r>
          </a:p>
          <a:p>
            <a:r>
              <a:rPr lang="en-US" b="1" dirty="0"/>
              <a:t>Visual Orientation:</a:t>
            </a:r>
            <a:r>
              <a:rPr lang="en-US" dirty="0"/>
              <a:t> "This chart shows how expensive claims are. The scale along the bottom is logarithmic—meaning each step represents a 10x increase in cost."</a:t>
            </a:r>
          </a:p>
          <a:p>
            <a:r>
              <a:rPr lang="en-US" b="1" dirty="0"/>
              <a:t>The Takeaway:</a:t>
            </a:r>
            <a:r>
              <a:rPr lang="en-US" dirty="0"/>
              <a:t> We are dealing with a "Long Tail" risk profile.</a:t>
            </a:r>
          </a:p>
          <a:p>
            <a:r>
              <a:rPr lang="en-US" b="1" dirty="0"/>
              <a:t>Talking Points:</a:t>
            </a:r>
            <a:endParaRPr lang="en-US" dirty="0"/>
          </a:p>
          <a:p>
            <a:pPr lvl="1"/>
            <a:r>
              <a:rPr lang="en-US" dirty="0"/>
              <a:t>Most claims cluster around the $100,000 to $200,000 range. </a:t>
            </a:r>
          </a:p>
          <a:p>
            <a:pPr lvl="1"/>
            <a:r>
              <a:rPr lang="en-US" dirty="0"/>
              <a:t>However, look at the tail on the right. We have a significant number of claims pushing past </a:t>
            </a:r>
            <a:r>
              <a:rPr lang="en-US" b="1" dirty="0"/>
              <a:t>$1 million</a:t>
            </a:r>
            <a:r>
              <a:rPr lang="en-US" dirty="0"/>
              <a:t>.</a:t>
            </a:r>
          </a:p>
          <a:p>
            <a:pPr lvl="1"/>
            <a:r>
              <a:rPr lang="en-US" dirty="0"/>
              <a:t>From a fund management perspective, predicting and managing these "outlier" events is more important than managing the average claim. </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10</a:t>
            </a:fld>
            <a:endParaRPr lang="en-US" dirty="0"/>
          </a:p>
        </p:txBody>
      </p:sp>
    </p:spTree>
    <p:extLst>
      <p:ext uri="{BB962C8B-B14F-4D97-AF65-F5344CB8AC3E}">
        <p14:creationId xmlns:p14="http://schemas.microsoft.com/office/powerpoint/2010/main" val="1770353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Predictors of Cost Increases</a:t>
            </a:r>
            <a:endParaRPr lang="en-US" dirty="0"/>
          </a:p>
          <a:p>
            <a:r>
              <a:rPr lang="en-US" b="1" dirty="0"/>
              <a:t>Stores Gasoline:</a:t>
            </a:r>
            <a:r>
              <a:rPr lang="en-US" dirty="0"/>
              <a:t> The presence of gasoline storage is associated with a </a:t>
            </a:r>
            <a:r>
              <a:rPr lang="en-US" b="1" dirty="0"/>
              <a:t>58.97% increase</a:t>
            </a:r>
            <a:r>
              <a:rPr lang="en-US" dirty="0"/>
              <a:t> in total claim cost compared to the baseline (p&lt;0.0001).</a:t>
            </a:r>
          </a:p>
          <a:p>
            <a:r>
              <a:rPr lang="en-US" b="1" dirty="0"/>
              <a:t>Avg Tank Age is Missing:</a:t>
            </a:r>
            <a:r>
              <a:rPr lang="en-US" dirty="0"/>
              <a:t> The absence of tank age data correlates with a </a:t>
            </a:r>
            <a:r>
              <a:rPr lang="en-US" b="1" dirty="0"/>
              <a:t>40.91% increase</a:t>
            </a:r>
            <a:r>
              <a:rPr lang="en-US" dirty="0"/>
              <a:t> in claim cost (p=0.0024).</a:t>
            </a:r>
          </a:p>
          <a:p>
            <a:r>
              <a:rPr lang="en-US" b="1" dirty="0"/>
              <a:t>Has Single-Walled System:</a:t>
            </a:r>
            <a:r>
              <a:rPr lang="en-US" dirty="0"/>
              <a:t> Facilities utilizing single-walled tank systems are associated with a </a:t>
            </a:r>
            <a:r>
              <a:rPr lang="en-US" b="1" dirty="0"/>
              <a:t>22.28% increase</a:t>
            </a:r>
            <a:r>
              <a:rPr lang="en-US" dirty="0"/>
              <a:t> in claim cost (p=0.0029).</a:t>
            </a:r>
          </a:p>
          <a:p>
            <a:r>
              <a:rPr lang="en-US" b="1" dirty="0"/>
              <a:t>Total Tanks at Facility:</a:t>
            </a:r>
            <a:r>
              <a:rPr lang="en-US" dirty="0"/>
              <a:t> A one-unit increase in the number of tanks is associated with a </a:t>
            </a:r>
            <a:r>
              <a:rPr lang="en-US" b="1" dirty="0"/>
              <a:t>5.26% increase</a:t>
            </a:r>
            <a:r>
              <a:rPr lang="en-US" dirty="0"/>
              <a:t> in claim cost (p&lt;0.0001).</a:t>
            </a:r>
          </a:p>
          <a:p>
            <a:r>
              <a:rPr lang="en-US" b="1" dirty="0"/>
              <a:t>Avg Tank Age (Years):</a:t>
            </a:r>
            <a:r>
              <a:rPr lang="en-US" dirty="0"/>
              <a:t> Each additional year of average tank age is associated with a </a:t>
            </a:r>
            <a:r>
              <a:rPr lang="en-US" b="1" dirty="0"/>
              <a:t>0.80% increase</a:t>
            </a:r>
            <a:r>
              <a:rPr lang="en-US" dirty="0"/>
              <a:t> in claim cost (p=0.0343).</a:t>
            </a:r>
          </a:p>
          <a:p>
            <a:r>
              <a:rPr lang="en-US" b="1" dirty="0"/>
              <a:t>Predictors of Cost Decreases</a:t>
            </a:r>
            <a:endParaRPr lang="en-US" dirty="0"/>
          </a:p>
          <a:p>
            <a:r>
              <a:rPr lang="en-US" b="1" dirty="0" err="1"/>
              <a:t>has_recent_closureTRUE</a:t>
            </a:r>
            <a:r>
              <a:rPr lang="en-US" b="1" dirty="0"/>
              <a:t>:</a:t>
            </a:r>
            <a:r>
              <a:rPr lang="en-US" dirty="0"/>
              <a:t> The presence of a tank closed within 90 days of the claim date is associated with a </a:t>
            </a:r>
            <a:r>
              <a:rPr lang="en-US" b="1" dirty="0"/>
              <a:t>19.72% decrease</a:t>
            </a:r>
            <a:r>
              <a:rPr lang="en-US" dirty="0"/>
              <a:t> in claim cost (p=0.0002).</a:t>
            </a:r>
          </a:p>
          <a:p>
            <a:r>
              <a:rPr lang="en-US" b="1" dirty="0"/>
              <a:t>Prior Claim Count:</a:t>
            </a:r>
            <a:r>
              <a:rPr lang="en-US" dirty="0"/>
              <a:t> An increase in the count of prior claims is associated with an </a:t>
            </a:r>
            <a:r>
              <a:rPr lang="en-US" b="1" dirty="0"/>
              <a:t>18.53% decrease</a:t>
            </a:r>
            <a:r>
              <a:rPr lang="en-US" dirty="0"/>
              <a:t> in claim cost (p=0.0010).</a:t>
            </a:r>
          </a:p>
          <a:p>
            <a:r>
              <a:rPr lang="en-US" b="1" dirty="0"/>
              <a:t>Reporting Delay (Days):</a:t>
            </a:r>
            <a:r>
              <a:rPr lang="en-US" dirty="0"/>
              <a:t> Each additional day of reporting delay is associated with a </a:t>
            </a:r>
            <a:r>
              <a:rPr lang="en-US" b="1" dirty="0"/>
              <a:t>0.04% decrease</a:t>
            </a:r>
            <a:r>
              <a:rPr lang="en-US" dirty="0"/>
              <a:t> in claim cost (p&lt;0.0001).</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11</a:t>
            </a:fld>
            <a:endParaRPr lang="en-US" dirty="0"/>
          </a:p>
        </p:txBody>
      </p:sp>
    </p:spTree>
    <p:extLst>
      <p:ext uri="{BB962C8B-B14F-4D97-AF65-F5344CB8AC3E}">
        <p14:creationId xmlns:p14="http://schemas.microsoft.com/office/powerpoint/2010/main" val="2753112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Analysis and Target:</a:t>
            </a:r>
            <a:r>
              <a:rPr lang="en-US" dirty="0"/>
              <a:t> The figure presents the results of a GRF analysis, showing the top 15 features by predictive importance for "Claim Cost".</a:t>
            </a:r>
          </a:p>
          <a:p>
            <a:r>
              <a:rPr lang="en-US" b="1" dirty="0"/>
              <a:t>Top Predictors:</a:t>
            </a:r>
            <a:r>
              <a:rPr lang="en-US" dirty="0"/>
              <a:t> The most influential feature is "Claim Year," followed by "Avg Tank Age (Years)" and "Days Since Prior Claim". These three features have the highest relative importance among the top 15.</a:t>
            </a:r>
          </a:p>
          <a:p>
            <a:r>
              <a:rPr lang="en-US" b="1" dirty="0"/>
              <a:t>Feature Categories:</a:t>
            </a:r>
            <a:r>
              <a:rPr lang="en-US" dirty="0"/>
              <a:t> The features are categorized as either a "Facility Trait" (blue bars) or a "Regulatory Flag (Human)" (orange bar).</a:t>
            </a:r>
          </a:p>
          <a:p>
            <a:r>
              <a:rPr lang="en-US" b="1" dirty="0"/>
              <a:t>Category Dominance:</a:t>
            </a:r>
            <a:r>
              <a:rPr lang="en-US" dirty="0"/>
              <a:t> All of the top 15 features are classified as "Facility Trait" except for "Has Diesel," which is a "Regulatory Flag (Human)".</a:t>
            </a:r>
          </a:p>
          <a:p>
            <a:r>
              <a:rPr lang="en-US" b="1" dirty="0"/>
              <a:t>Low-Importance Features:</a:t>
            </a:r>
            <a:r>
              <a:rPr lang="en-US" dirty="0"/>
              <a:t> Several features at the bottom of the list, such as "Has Galvanized Piping," "Has Electronic </a:t>
            </a:r>
            <a:r>
              <a:rPr lang="en-US" dirty="0" err="1"/>
              <a:t>Atg</a:t>
            </a:r>
            <a:r>
              <a:rPr lang="en-US" dirty="0"/>
              <a:t>," and "Has Bare Steel," show near-zero relative importance in this analysis.</a:t>
            </a:r>
          </a:p>
        </p:txBody>
      </p:sp>
      <p:sp>
        <p:nvSpPr>
          <p:cNvPr id="4" name="Slide Number Placeholder 3"/>
          <p:cNvSpPr>
            <a:spLocks noGrp="1"/>
          </p:cNvSpPr>
          <p:nvPr>
            <p:ph type="sldNum" sz="quarter" idx="5"/>
          </p:nvPr>
        </p:nvSpPr>
        <p:spPr/>
        <p:txBody>
          <a:bodyPr/>
          <a:lstStyle/>
          <a:p>
            <a:fld id="{1D06B66C-E0D9-4E12-9023-C99C46D6E7F8}" type="slidenum">
              <a:rPr lang="en-US" smtClean="0"/>
              <a:t>12</a:t>
            </a:fld>
            <a:endParaRPr lang="en-US" dirty="0"/>
          </a:p>
        </p:txBody>
      </p:sp>
    </p:spTree>
    <p:extLst>
      <p:ext uri="{BB962C8B-B14F-4D97-AF65-F5344CB8AC3E}">
        <p14:creationId xmlns:p14="http://schemas.microsoft.com/office/powerpoint/2010/main" val="1210418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Visual Orientation:</a:t>
            </a:r>
            <a:r>
              <a:rPr lang="en-US" dirty="0"/>
              <a:t> "This tree breaks down claims into cost buckets based on facility characteristics. The dollar figures at the bottom represent the average cost for that group."</a:t>
            </a:r>
          </a:p>
          <a:p>
            <a:r>
              <a:rPr lang="en-US" b="1" dirty="0"/>
              <a:t>The Takeaway:</a:t>
            </a:r>
            <a:r>
              <a:rPr lang="en-US" dirty="0"/>
              <a:t> Physical complexity (number of tanks) and age drive the price tag.</a:t>
            </a:r>
          </a:p>
          <a:p>
            <a:r>
              <a:rPr lang="en-US" b="1" dirty="0"/>
              <a:t>Talking Points:</a:t>
            </a:r>
            <a:endParaRPr lang="en-US" dirty="0"/>
          </a:p>
          <a:p>
            <a:r>
              <a:rPr lang="en-US" b="1" dirty="0"/>
              <a:t>The Low-Cost Path (Left):</a:t>
            </a:r>
            <a:r>
              <a:rPr lang="en-US" dirty="0"/>
              <a:t> If a site has fewer active tanks and they are relatively new (under ~24 years), the average cost stays around </a:t>
            </a:r>
            <a:r>
              <a:rPr lang="en-US" b="1" dirty="0"/>
              <a:t>$80,000</a:t>
            </a:r>
            <a:r>
              <a:rPr lang="en-US" dirty="0"/>
              <a:t>. </a:t>
            </a:r>
          </a:p>
          <a:p>
            <a:endParaRPr lang="en-US" dirty="0"/>
          </a:p>
          <a:p>
            <a:r>
              <a:rPr lang="en-US" b="1" dirty="0"/>
              <a:t>The High-Cost Path (Right):</a:t>
            </a:r>
            <a:r>
              <a:rPr lang="en-US" dirty="0"/>
              <a:t> Older tanks (&gt;28 years) significantly increase the liability, pushing average costs up to </a:t>
            </a:r>
            <a:r>
              <a:rPr lang="en-US" b="1" dirty="0"/>
              <a:t>$185,000</a:t>
            </a:r>
            <a:r>
              <a:rPr lang="en-US" dirty="0"/>
              <a:t>. </a:t>
            </a:r>
          </a:p>
          <a:p>
            <a:endParaRPr lang="en-US" dirty="0"/>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13</a:t>
            </a:fld>
            <a:endParaRPr lang="en-US" dirty="0"/>
          </a:p>
        </p:txBody>
      </p:sp>
    </p:spTree>
    <p:extLst>
      <p:ext uri="{BB962C8B-B14F-4D97-AF65-F5344CB8AC3E}">
        <p14:creationId xmlns:p14="http://schemas.microsoft.com/office/powerpoint/2010/main" val="3392661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759DD-C9A0-DB6F-7775-D1A4610E4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0CE13-46C7-6505-C5EF-29FA34899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9C07CD-2973-CA13-F25B-D9EA9BD9506B}"/>
              </a:ext>
            </a:extLst>
          </p:cNvPr>
          <p:cNvSpPr>
            <a:spLocks noGrp="1"/>
          </p:cNvSpPr>
          <p:nvPr>
            <p:ph type="body" idx="1"/>
          </p:nvPr>
        </p:nvSpPr>
        <p:spPr/>
        <p:txBody>
          <a:bodyPr/>
          <a:lstStyle/>
          <a:p>
            <a:r>
              <a:rPr lang="en-US" b="1" dirty="0"/>
              <a:t>Slide 15: What Predicts Claim Duration? (Regression Table)</a:t>
            </a:r>
          </a:p>
          <a:p>
            <a:r>
              <a:rPr lang="en-US" b="1" dirty="0"/>
              <a:t>Visual Orientation:</a:t>
            </a:r>
            <a:r>
              <a:rPr lang="en-US" dirty="0"/>
              <a:t> "This table identifies which factors extend the timeline of a cleanup. A positive (red) percentage means the cleanup takes longer."</a:t>
            </a:r>
          </a:p>
          <a:p>
            <a:r>
              <a:rPr lang="en-US" b="1" dirty="0"/>
              <a:t>The Takeaway:</a:t>
            </a:r>
            <a:r>
              <a:rPr lang="en-US" dirty="0"/>
              <a:t> Gasoline claims and missing data create delays; closures speed things up.</a:t>
            </a:r>
          </a:p>
          <a:p>
            <a:r>
              <a:rPr lang="en-US" b="1" dirty="0"/>
              <a:t>Talking Points:</a:t>
            </a:r>
            <a:endParaRPr lang="en-US" dirty="0"/>
          </a:p>
          <a:p>
            <a:pPr lvl="1"/>
            <a:r>
              <a:rPr lang="en-US" b="1" dirty="0"/>
              <a:t>Stores Gasoline (+57%): a facility that stores gas has longer claims ~ 57% longer then a non-gasoline facility.</a:t>
            </a:r>
            <a:r>
              <a:rPr lang="en-US" dirty="0"/>
              <a:t> </a:t>
            </a:r>
          </a:p>
          <a:p>
            <a:pPr lvl="1"/>
            <a:endParaRPr lang="en-US" dirty="0"/>
          </a:p>
          <a:p>
            <a:pPr lvl="1"/>
            <a:r>
              <a:rPr lang="en-US" b="1" dirty="0"/>
              <a:t>Recent Closure (-24%):</a:t>
            </a:r>
            <a:r>
              <a:rPr lang="en-US" dirty="0"/>
              <a:t> If the facility recently closed its tanks, the timeline shrinks. </a:t>
            </a:r>
          </a:p>
          <a:p>
            <a:pPr lvl="1"/>
            <a:endParaRPr lang="en-US" dirty="0"/>
          </a:p>
          <a:p>
            <a:pPr lvl="1"/>
            <a:r>
              <a:rPr lang="en-US" b="1" dirty="0"/>
              <a:t>Missing Data (+30%):</a:t>
            </a:r>
            <a:r>
              <a:rPr lang="en-US" dirty="0"/>
              <a:t> Once again, "Avg Tank Age is Missing" is a proxy for uncertainty. If we don't know what's in the ground, it takes longer to fix.</a:t>
            </a:r>
          </a:p>
          <a:p>
            <a:endParaRPr lang="en-US" dirty="0"/>
          </a:p>
        </p:txBody>
      </p:sp>
      <p:sp>
        <p:nvSpPr>
          <p:cNvPr id="4" name="Slide Number Placeholder 3">
            <a:extLst>
              <a:ext uri="{FF2B5EF4-FFF2-40B4-BE49-F238E27FC236}">
                <a16:creationId xmlns:a16="http://schemas.microsoft.com/office/drawing/2014/main" id="{EE6E1C34-F9F0-262F-2229-2B6820B70479}"/>
              </a:ext>
            </a:extLst>
          </p:cNvPr>
          <p:cNvSpPr>
            <a:spLocks noGrp="1"/>
          </p:cNvSpPr>
          <p:nvPr>
            <p:ph type="sldNum" sz="quarter" idx="5"/>
          </p:nvPr>
        </p:nvSpPr>
        <p:spPr/>
        <p:txBody>
          <a:bodyPr/>
          <a:lstStyle/>
          <a:p>
            <a:fld id="{1D06B66C-E0D9-4E12-9023-C99C46D6E7F8}" type="slidenum">
              <a:rPr lang="en-US" smtClean="0"/>
              <a:t>15</a:t>
            </a:fld>
            <a:endParaRPr lang="en-US" dirty="0"/>
          </a:p>
        </p:txBody>
      </p:sp>
    </p:spTree>
    <p:extLst>
      <p:ext uri="{BB962C8B-B14F-4D97-AF65-F5344CB8AC3E}">
        <p14:creationId xmlns:p14="http://schemas.microsoft.com/office/powerpoint/2010/main" val="2121201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kern="1200" dirty="0">
                <a:solidFill>
                  <a:schemeClr val="tx1"/>
                </a:solidFill>
                <a:effectLst/>
                <a:latin typeface="+mn-lt"/>
                <a:ea typeface="+mn-ea"/>
                <a:cs typeface="+mn-cs"/>
              </a:rPr>
              <a:t>Based on the provided figure from the GRF analysis, here is a note on the variable importance for predicting claim duration:</a:t>
            </a:r>
          </a:p>
          <a:p>
            <a:pPr rtl="0"/>
            <a:r>
              <a:rPr lang="en-US" sz="1200" b="1" kern="1200" dirty="0">
                <a:solidFill>
                  <a:schemeClr val="tx1"/>
                </a:solidFill>
                <a:effectLst/>
                <a:latin typeface="+mn-lt"/>
                <a:ea typeface="+mn-ea"/>
                <a:cs typeface="+mn-cs"/>
              </a:rPr>
              <a:t>Analysis and Target:</a:t>
            </a:r>
            <a:r>
              <a:rPr lang="en-US" sz="1200" kern="1200" dirty="0">
                <a:solidFill>
                  <a:schemeClr val="tx1"/>
                </a:solidFill>
                <a:effectLst/>
                <a:latin typeface="+mn-lt"/>
                <a:ea typeface="+mn-ea"/>
                <a:cs typeface="+mn-cs"/>
              </a:rPr>
              <a:t> The figure displays the results of a GRF analysis identifying the top 15 features with the highest predictive importance for "Claim Duration."</a:t>
            </a:r>
          </a:p>
          <a:p>
            <a:pPr rtl="0"/>
            <a:r>
              <a:rPr lang="en-US" sz="1200" b="1" kern="1200" dirty="0">
                <a:solidFill>
                  <a:schemeClr val="tx1"/>
                </a:solidFill>
                <a:effectLst/>
                <a:latin typeface="+mn-lt"/>
                <a:ea typeface="+mn-ea"/>
                <a:cs typeface="+mn-cs"/>
              </a:rPr>
              <a:t>Top Predictors:</a:t>
            </a:r>
            <a:r>
              <a:rPr lang="en-US" sz="1200" kern="1200" dirty="0">
                <a:solidFill>
                  <a:schemeClr val="tx1"/>
                </a:solidFill>
                <a:effectLst/>
                <a:latin typeface="+mn-lt"/>
                <a:ea typeface="+mn-ea"/>
                <a:cs typeface="+mn-cs"/>
              </a:rPr>
              <a:t> Similar to the cost model, the dominant predictors are "Claim Year," "Avg Tank Age (Years)," and "Days Since Prior Claim." These three variables consistently rank as the most critical drivers for predicting how long a claim remains open.</a:t>
            </a:r>
          </a:p>
          <a:p>
            <a:pPr rtl="0"/>
            <a:r>
              <a:rPr lang="en-US" sz="1200" b="1" kern="1200" dirty="0">
                <a:solidFill>
                  <a:schemeClr val="tx1"/>
                </a:solidFill>
                <a:effectLst/>
                <a:latin typeface="+mn-lt"/>
                <a:ea typeface="+mn-ea"/>
                <a:cs typeface="+mn-cs"/>
              </a:rPr>
              <a:t>Feature Categories:</a:t>
            </a:r>
            <a:r>
              <a:rPr lang="en-US" sz="1200" kern="1200" dirty="0">
                <a:solidFill>
                  <a:schemeClr val="tx1"/>
                </a:solidFill>
                <a:effectLst/>
                <a:latin typeface="+mn-lt"/>
                <a:ea typeface="+mn-ea"/>
                <a:cs typeface="+mn-cs"/>
              </a:rPr>
              <a:t> The features are divided into "Facility Trait" (blue bars) and "Regulatory Flag (Human)" (orange bar).</a:t>
            </a:r>
          </a:p>
          <a:p>
            <a:pPr rtl="0"/>
            <a:r>
              <a:rPr lang="en-US" sz="1200" b="1" kern="1200" dirty="0">
                <a:solidFill>
                  <a:schemeClr val="tx1"/>
                </a:solidFill>
                <a:effectLst/>
                <a:latin typeface="+mn-lt"/>
                <a:ea typeface="+mn-ea"/>
                <a:cs typeface="+mn-cs"/>
              </a:rPr>
              <a:t>Category Dominance:</a:t>
            </a:r>
            <a:r>
              <a:rPr lang="en-US" sz="1200" kern="1200" dirty="0">
                <a:solidFill>
                  <a:schemeClr val="tx1"/>
                </a:solidFill>
                <a:effectLst/>
                <a:latin typeface="+mn-lt"/>
                <a:ea typeface="+mn-ea"/>
                <a:cs typeface="+mn-cs"/>
              </a:rPr>
              <a:t> "Facility Traits" overwhelmingly dominate the top rankings. The only "Regulatory Flag (Human)" to appear in the top 15 is "Has Diesel," which ranks 5th—significantly higher here than in the claim cost analysis (where it ranked 9th).</a:t>
            </a:r>
          </a:p>
          <a:p>
            <a:pPr rtl="0"/>
            <a:r>
              <a:rPr lang="en-US" sz="1200" b="1" kern="1200" dirty="0">
                <a:solidFill>
                  <a:schemeClr val="tx1"/>
                </a:solidFill>
                <a:effectLst/>
                <a:latin typeface="+mn-lt"/>
                <a:ea typeface="+mn-ea"/>
                <a:cs typeface="+mn-cs"/>
              </a:rPr>
              <a:t>Low-Importance Features:</a:t>
            </a:r>
            <a:r>
              <a:rPr lang="en-US" sz="1200" kern="1200" dirty="0">
                <a:solidFill>
                  <a:schemeClr val="tx1"/>
                </a:solidFill>
                <a:effectLst/>
                <a:latin typeface="+mn-lt"/>
                <a:ea typeface="+mn-ea"/>
                <a:cs typeface="+mn-cs"/>
              </a:rPr>
              <a:t> Infrastructure material variables such as "Has Galvanized Piping," "Has Electronic </a:t>
            </a:r>
            <a:r>
              <a:rPr lang="en-US" sz="1200" kern="1200" dirty="0" err="1">
                <a:solidFill>
                  <a:schemeClr val="tx1"/>
                </a:solidFill>
                <a:effectLst/>
                <a:latin typeface="+mn-lt"/>
                <a:ea typeface="+mn-ea"/>
                <a:cs typeface="+mn-cs"/>
              </a:rPr>
              <a:t>Atg</a:t>
            </a:r>
            <a:r>
              <a:rPr lang="en-US" sz="1200" kern="1200" dirty="0">
                <a:solidFill>
                  <a:schemeClr val="tx1"/>
                </a:solidFill>
                <a:effectLst/>
                <a:latin typeface="+mn-lt"/>
                <a:ea typeface="+mn-ea"/>
                <a:cs typeface="+mn-cs"/>
              </a:rPr>
              <a:t>," and "Has Bare Steel" appear at the bottom of the list with negligible predictive power relative to the temporal and age-based variables.</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16</a:t>
            </a:fld>
            <a:endParaRPr lang="en-US" dirty="0"/>
          </a:p>
        </p:txBody>
      </p:sp>
    </p:spTree>
    <p:extLst>
      <p:ext uri="{BB962C8B-B14F-4D97-AF65-F5344CB8AC3E}">
        <p14:creationId xmlns:p14="http://schemas.microsoft.com/office/powerpoint/2010/main" val="2200595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Primary Segmentation (Age Thresholds)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Root Split:</a:t>
            </a:r>
            <a:r>
              <a:rPr lang="en-US" sz="1200" kern="1200" dirty="0">
                <a:solidFill>
                  <a:schemeClr val="tx1"/>
                </a:solidFill>
                <a:effectLst/>
                <a:latin typeface="+mn-lt"/>
                <a:ea typeface="+mn-ea"/>
                <a:cs typeface="+mn-cs"/>
              </a:rPr>
              <a:t> The primary determinant of claim duration is "Avg Tank Age," splitting the population at the </a:t>
            </a:r>
            <a:r>
              <a:rPr lang="en-US" sz="1200" b="1" kern="1200" dirty="0">
                <a:solidFill>
                  <a:schemeClr val="tx1"/>
                </a:solidFill>
                <a:effectLst/>
                <a:latin typeface="+mn-lt"/>
                <a:ea typeface="+mn-ea"/>
                <a:cs typeface="+mn-cs"/>
              </a:rPr>
              <a:t>20-year mark</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Secondary Segmentation:</a:t>
            </a:r>
            <a:r>
              <a:rPr lang="en-US" sz="1200" kern="1200" dirty="0">
                <a:solidFill>
                  <a:schemeClr val="tx1"/>
                </a:solidFill>
                <a:effectLst/>
                <a:latin typeface="+mn-lt"/>
                <a:ea typeface="+mn-ea"/>
                <a:cs typeface="+mn-cs"/>
              </a:rPr>
              <a:t> For older tanks (≥ 20 years), the population is further bifurcated at </a:t>
            </a:r>
            <a:r>
              <a:rPr lang="en-US" sz="1200" b="1" kern="1200" dirty="0">
                <a:solidFill>
                  <a:schemeClr val="tx1"/>
                </a:solidFill>
                <a:effectLst/>
                <a:latin typeface="+mn-lt"/>
                <a:ea typeface="+mn-ea"/>
                <a:cs typeface="+mn-cs"/>
              </a:rPr>
              <a:t>28.84 years</a:t>
            </a:r>
            <a:r>
              <a:rPr lang="en-US" sz="1200" kern="1200" dirty="0">
                <a:solidFill>
                  <a:schemeClr val="tx1"/>
                </a:solidFill>
                <a:effectLst/>
                <a:latin typeface="+mn-lt"/>
                <a:ea typeface="+mn-ea"/>
                <a:cs typeface="+mn-cs"/>
              </a:rPr>
              <a:t>, creating a distinct "legacy" cohort versus a "mid-age" cohort.</a:t>
            </a:r>
          </a:p>
          <a:p>
            <a:r>
              <a:rPr lang="en-US" sz="1200" b="1" kern="1200" dirty="0">
                <a:solidFill>
                  <a:schemeClr val="tx1"/>
                </a:solidFill>
                <a:effectLst/>
                <a:latin typeface="+mn-lt"/>
                <a:ea typeface="+mn-ea"/>
                <a:cs typeface="+mn-cs"/>
              </a:rPr>
              <a:t>Branch Logic: The "Younger" Cohort (&lt; 20 Years)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Infrastructure Penalty:</a:t>
            </a:r>
            <a:r>
              <a:rPr lang="en-US" sz="1200" kern="1200" dirty="0">
                <a:solidFill>
                  <a:schemeClr val="tx1"/>
                </a:solidFill>
                <a:effectLst/>
                <a:latin typeface="+mn-lt"/>
                <a:ea typeface="+mn-ea"/>
                <a:cs typeface="+mn-cs"/>
              </a:rPr>
              <a:t> In the younger cohort, the presence of a "Single-Walled System" (≥ 0.5) acts as a critical risk multiplier. The highest duration in the entire tree (</a:t>
            </a:r>
            <a:r>
              <a:rPr lang="en-US" sz="1200" b="1" kern="1200" dirty="0">
                <a:solidFill>
                  <a:schemeClr val="tx1"/>
                </a:solidFill>
                <a:effectLst/>
                <a:latin typeface="+mn-lt"/>
                <a:ea typeface="+mn-ea"/>
                <a:cs typeface="+mn-cs"/>
              </a:rPr>
              <a:t>69.3 months</a:t>
            </a:r>
            <a:r>
              <a:rPr lang="en-US" sz="1200" kern="1200" dirty="0">
                <a:solidFill>
                  <a:schemeClr val="tx1"/>
                </a:solidFill>
                <a:effectLst/>
                <a:latin typeface="+mn-lt"/>
                <a:ea typeface="+mn-ea"/>
                <a:cs typeface="+mn-cs"/>
              </a:rPr>
              <a:t>) occurs in this branch when combined with a high facility scale (Active Tanks ≥ 2.5).</a:t>
            </a:r>
          </a:p>
          <a:p>
            <a:r>
              <a:rPr lang="en-US" sz="1200" b="1" kern="1200" dirty="0">
                <a:solidFill>
                  <a:schemeClr val="tx1"/>
                </a:solidFill>
                <a:effectLst/>
                <a:latin typeface="+mn-lt"/>
                <a:ea typeface="+mn-ea"/>
                <a:cs typeface="+mn-cs"/>
              </a:rPr>
              <a:t>Substance Risk:</a:t>
            </a:r>
            <a:r>
              <a:rPr lang="en-US" sz="1200" kern="1200" dirty="0">
                <a:solidFill>
                  <a:schemeClr val="tx1"/>
                </a:solidFill>
                <a:effectLst/>
                <a:latin typeface="+mn-lt"/>
                <a:ea typeface="+mn-ea"/>
                <a:cs typeface="+mn-cs"/>
              </a:rPr>
              <a:t> For younger tanks </a:t>
            </a:r>
            <a:r>
              <a:rPr lang="en-US" sz="1200" i="1" kern="1200" dirty="0">
                <a:solidFill>
                  <a:schemeClr val="tx1"/>
                </a:solidFill>
                <a:effectLst/>
                <a:latin typeface="+mn-lt"/>
                <a:ea typeface="+mn-ea"/>
                <a:cs typeface="+mn-cs"/>
              </a:rPr>
              <a:t>without</a:t>
            </a:r>
            <a:r>
              <a:rPr lang="en-US" sz="1200" kern="1200" dirty="0">
                <a:solidFill>
                  <a:schemeClr val="tx1"/>
                </a:solidFill>
                <a:effectLst/>
                <a:latin typeface="+mn-lt"/>
                <a:ea typeface="+mn-ea"/>
                <a:cs typeface="+mn-cs"/>
              </a:rPr>
              <a:t> single-walled systems (Double-Walled), dispensing gasoline increases the average duration from </a:t>
            </a:r>
            <a:r>
              <a:rPr lang="en-US" sz="1200" b="1" kern="1200" dirty="0">
                <a:solidFill>
                  <a:schemeClr val="tx1"/>
                </a:solidFill>
                <a:effectLst/>
                <a:latin typeface="+mn-lt"/>
                <a:ea typeface="+mn-ea"/>
                <a:cs typeface="+mn-cs"/>
              </a:rPr>
              <a:t>36.9 months</a:t>
            </a:r>
            <a:r>
              <a:rPr lang="en-US" sz="1200" kern="1200" dirty="0">
                <a:solidFill>
                  <a:schemeClr val="tx1"/>
                </a:solidFill>
                <a:effectLst/>
                <a:latin typeface="+mn-lt"/>
                <a:ea typeface="+mn-ea"/>
                <a:cs typeface="+mn-cs"/>
              </a:rPr>
              <a:t> to </a:t>
            </a:r>
            <a:r>
              <a:rPr lang="en-US" sz="1200" b="1" kern="1200" dirty="0">
                <a:solidFill>
                  <a:schemeClr val="tx1"/>
                </a:solidFill>
                <a:effectLst/>
                <a:latin typeface="+mn-lt"/>
                <a:ea typeface="+mn-ea"/>
                <a:cs typeface="+mn-cs"/>
              </a:rPr>
              <a:t>54.3 months</a:t>
            </a:r>
            <a:r>
              <a:rPr lang="en-US" sz="1200" kern="1200" dirty="0">
                <a:solidFill>
                  <a:schemeClr val="tx1"/>
                </a:solidFill>
                <a:effectLst/>
                <a:latin typeface="+mn-lt"/>
                <a:ea typeface="+mn-ea"/>
                <a:cs typeface="+mn-cs"/>
              </a:rPr>
              <a:t>, a 47% increase attributable solely to the substance type.</a:t>
            </a:r>
          </a:p>
          <a:p>
            <a:r>
              <a:rPr lang="en-US" sz="1200" b="1" kern="1200" dirty="0">
                <a:solidFill>
                  <a:schemeClr val="tx1"/>
                </a:solidFill>
                <a:effectLst/>
                <a:latin typeface="+mn-lt"/>
                <a:ea typeface="+mn-ea"/>
                <a:cs typeface="+mn-cs"/>
              </a:rPr>
              <a:t>Branch Logic: The "Older" Cohort (≥ 20 Years)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The Experience Mitigation:</a:t>
            </a:r>
            <a:r>
              <a:rPr lang="en-US" sz="1200" kern="1200" dirty="0">
                <a:solidFill>
                  <a:schemeClr val="tx1"/>
                </a:solidFill>
                <a:effectLst/>
                <a:latin typeface="+mn-lt"/>
                <a:ea typeface="+mn-ea"/>
                <a:cs typeface="+mn-cs"/>
              </a:rPr>
              <a:t> Among the oldest tanks (≥ 28.84 years), "Repeat Filer" status acts as a strong mitigator. Repeat filers average </a:t>
            </a:r>
            <a:r>
              <a:rPr lang="en-US" sz="1200" b="1" kern="1200" dirty="0">
                <a:solidFill>
                  <a:schemeClr val="tx1"/>
                </a:solidFill>
                <a:effectLst/>
                <a:latin typeface="+mn-lt"/>
                <a:ea typeface="+mn-ea"/>
                <a:cs typeface="+mn-cs"/>
              </a:rPr>
              <a:t>33.4 months</a:t>
            </a:r>
            <a:r>
              <a:rPr lang="en-US" sz="1200" kern="1200" dirty="0">
                <a:solidFill>
                  <a:schemeClr val="tx1"/>
                </a:solidFill>
                <a:effectLst/>
                <a:latin typeface="+mn-lt"/>
                <a:ea typeface="+mn-ea"/>
                <a:cs typeface="+mn-cs"/>
              </a:rPr>
              <a:t> per claim (the lowest duration in the tree), whereas non-repeat filers with similar legacy infrastructure average </a:t>
            </a:r>
            <a:r>
              <a:rPr lang="en-US" sz="1200" b="1" kern="1200" dirty="0">
                <a:solidFill>
                  <a:schemeClr val="tx1"/>
                </a:solidFill>
                <a:effectLst/>
                <a:latin typeface="+mn-lt"/>
                <a:ea typeface="+mn-ea"/>
                <a:cs typeface="+mn-cs"/>
              </a:rPr>
              <a:t>42.1 months</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Mid-Age Vulnerability:</a:t>
            </a:r>
            <a:r>
              <a:rPr lang="en-US" sz="1200" kern="1200" dirty="0">
                <a:solidFill>
                  <a:schemeClr val="tx1"/>
                </a:solidFill>
                <a:effectLst/>
                <a:latin typeface="+mn-lt"/>
                <a:ea typeface="+mn-ea"/>
                <a:cs typeface="+mn-cs"/>
              </a:rPr>
              <a:t> For tanks aged 20–28.8 years, single-walled systems drive duration up to </a:t>
            </a:r>
            <a:r>
              <a:rPr lang="en-US" sz="1200" b="1" kern="1200" dirty="0">
                <a:solidFill>
                  <a:schemeClr val="tx1"/>
                </a:solidFill>
                <a:effectLst/>
                <a:latin typeface="+mn-lt"/>
                <a:ea typeface="+mn-ea"/>
                <a:cs typeface="+mn-cs"/>
              </a:rPr>
              <a:t>55.9 months</a:t>
            </a:r>
            <a:r>
              <a:rPr lang="en-US" sz="1200" kern="1200" dirty="0">
                <a:solidFill>
                  <a:schemeClr val="tx1"/>
                </a:solidFill>
                <a:effectLst/>
                <a:latin typeface="+mn-lt"/>
                <a:ea typeface="+mn-ea"/>
                <a:cs typeface="+mn-cs"/>
              </a:rPr>
              <a:t>, compared to </a:t>
            </a:r>
            <a:r>
              <a:rPr lang="en-US" sz="1200" b="1" kern="1200" dirty="0">
                <a:solidFill>
                  <a:schemeClr val="tx1"/>
                </a:solidFill>
                <a:effectLst/>
                <a:latin typeface="+mn-lt"/>
                <a:ea typeface="+mn-ea"/>
                <a:cs typeface="+mn-cs"/>
              </a:rPr>
              <a:t>43.9 months</a:t>
            </a:r>
            <a:r>
              <a:rPr lang="en-US" sz="1200" kern="1200" dirty="0">
                <a:solidFill>
                  <a:schemeClr val="tx1"/>
                </a:solidFill>
                <a:effectLst/>
                <a:latin typeface="+mn-lt"/>
                <a:ea typeface="+mn-ea"/>
                <a:cs typeface="+mn-cs"/>
              </a:rPr>
              <a:t> for double-walled systems in the same age bracket.</a:t>
            </a:r>
          </a:p>
          <a:p>
            <a:r>
              <a:rPr lang="en-US" sz="1200" b="1" kern="1200" dirty="0">
                <a:solidFill>
                  <a:schemeClr val="tx1"/>
                </a:solidFill>
                <a:effectLst/>
                <a:latin typeface="+mn-lt"/>
                <a:ea typeface="+mn-ea"/>
                <a:cs typeface="+mn-cs"/>
              </a:rPr>
              <a:t>Extremes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Worst-Case Scenario:</a:t>
            </a:r>
            <a:r>
              <a:rPr lang="en-US" sz="1200" kern="1200" dirty="0">
                <a:solidFill>
                  <a:schemeClr val="tx1"/>
                </a:solidFill>
                <a:effectLst/>
                <a:latin typeface="+mn-lt"/>
                <a:ea typeface="+mn-ea"/>
                <a:cs typeface="+mn-cs"/>
              </a:rPr>
              <a:t> Young tanks (&lt; 20 years) + Single-Walled + High Volume (Active Tanks ≥ 2.5) = </a:t>
            </a:r>
            <a:r>
              <a:rPr lang="en-US" sz="1200" b="1" kern="1200" dirty="0">
                <a:solidFill>
                  <a:schemeClr val="tx1"/>
                </a:solidFill>
                <a:effectLst/>
                <a:latin typeface="+mn-lt"/>
                <a:ea typeface="+mn-ea"/>
                <a:cs typeface="+mn-cs"/>
              </a:rPr>
              <a:t>69.3 Months</a:t>
            </a:r>
            <a:r>
              <a:rPr lang="en-US" sz="1200" kern="1200" dirty="0">
                <a:solidFill>
                  <a:schemeClr val="tx1"/>
                </a:solidFill>
                <a:effectLst/>
                <a:latin typeface="+mn-lt"/>
                <a:ea typeface="+mn-ea"/>
                <a:cs typeface="+mn-cs"/>
              </a:rPr>
              <a:t> ($n=1,180$).</a:t>
            </a:r>
          </a:p>
          <a:p>
            <a:r>
              <a:rPr lang="en-US" sz="1200" b="1" kern="1200" dirty="0">
                <a:solidFill>
                  <a:schemeClr val="tx1"/>
                </a:solidFill>
                <a:effectLst/>
                <a:latin typeface="+mn-lt"/>
                <a:ea typeface="+mn-ea"/>
                <a:cs typeface="+mn-cs"/>
              </a:rPr>
              <a:t>Best-Case Scenario:</a:t>
            </a:r>
            <a:r>
              <a:rPr lang="en-US" sz="1200" kern="1200" dirty="0">
                <a:solidFill>
                  <a:schemeClr val="tx1"/>
                </a:solidFill>
                <a:effectLst/>
                <a:latin typeface="+mn-lt"/>
                <a:ea typeface="+mn-ea"/>
                <a:cs typeface="+mn-cs"/>
              </a:rPr>
              <a:t> Oldest tanks (≥ 28.8 years) + Repeat Filer = </a:t>
            </a:r>
            <a:r>
              <a:rPr lang="en-US" sz="1200" b="1" kern="1200" dirty="0">
                <a:solidFill>
                  <a:schemeClr val="tx1"/>
                </a:solidFill>
                <a:effectLst/>
                <a:latin typeface="+mn-lt"/>
                <a:ea typeface="+mn-ea"/>
                <a:cs typeface="+mn-cs"/>
              </a:rPr>
              <a:t>33.4 Months</a:t>
            </a:r>
            <a:r>
              <a:rPr lang="en-US" sz="1200" kern="1200" dirty="0">
                <a:solidFill>
                  <a:schemeClr val="tx1"/>
                </a:solidFill>
                <a:effectLst/>
                <a:latin typeface="+mn-lt"/>
                <a:ea typeface="+mn-ea"/>
                <a:cs typeface="+mn-cs"/>
              </a:rPr>
              <a:t> ($n=234$).</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17</a:t>
            </a:fld>
            <a:endParaRPr lang="en-US" dirty="0"/>
          </a:p>
        </p:txBody>
      </p:sp>
    </p:spTree>
    <p:extLst>
      <p:ext uri="{BB962C8B-B14F-4D97-AF65-F5344CB8AC3E}">
        <p14:creationId xmlns:p14="http://schemas.microsoft.com/office/powerpoint/2010/main" val="3952952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EE424-C6C7-B6C7-F733-AEC512EF6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49BCD-AE2A-3C40-DFB9-B68C847DE1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E8D88-BF1E-060D-B736-72F0CFAAC1D3}"/>
              </a:ext>
            </a:extLst>
          </p:cNvPr>
          <p:cNvSpPr>
            <a:spLocks noGrp="1"/>
          </p:cNvSpPr>
          <p:nvPr>
            <p:ph type="body" idx="1"/>
          </p:nvPr>
        </p:nvSpPr>
        <p:spPr/>
        <p:txBody>
          <a:bodyPr/>
          <a:lstStyle/>
          <a:p>
            <a:r>
              <a:rPr lang="en-US" b="1" dirty="0"/>
              <a:t>Slide 19: Total Cost by Contract Type (Boxplots)</a:t>
            </a:r>
          </a:p>
          <a:p>
            <a:r>
              <a:rPr lang="en-US" b="1" dirty="0"/>
              <a:t>Visual Orientation:</a:t>
            </a:r>
            <a:r>
              <a:rPr lang="en-US" dirty="0"/>
              <a:t> "Each box represents the range of costs for a different contract type. The line in the middle of the box is the median cost."</a:t>
            </a:r>
          </a:p>
          <a:p>
            <a:r>
              <a:rPr lang="en-US" b="1" dirty="0"/>
              <a:t>The Takeaway:</a:t>
            </a:r>
            <a:r>
              <a:rPr lang="en-US" dirty="0"/>
              <a:t> </a:t>
            </a:r>
            <a:r>
              <a:rPr lang="en-US" i="1" dirty="0"/>
              <a:t>Caution.</a:t>
            </a:r>
            <a:r>
              <a:rPr lang="en-US" dirty="0"/>
              <a:t> Do not misinterpret this chart.</a:t>
            </a:r>
          </a:p>
          <a:p>
            <a:r>
              <a:rPr lang="en-US" b="1" dirty="0"/>
              <a:t>Talking Points:</a:t>
            </a:r>
            <a:endParaRPr lang="en-US" dirty="0"/>
          </a:p>
          <a:p>
            <a:pPr lvl="1"/>
            <a:r>
              <a:rPr lang="en-US" dirty="0"/>
              <a:t>It looks like </a:t>
            </a:r>
            <a:r>
              <a:rPr lang="en-US" b="1" dirty="0"/>
              <a:t>Competitive Bidding</a:t>
            </a:r>
            <a:r>
              <a:rPr lang="en-US" dirty="0"/>
              <a:t> (the green/yellow boxes) is more expensive than </a:t>
            </a:r>
            <a:r>
              <a:rPr lang="en-US" b="1" dirty="0"/>
              <a:t>Sole Source</a:t>
            </a:r>
            <a:r>
              <a:rPr lang="en-US" dirty="0"/>
              <a:t> (the top grey boxes). </a:t>
            </a:r>
          </a:p>
          <a:p>
            <a:pPr lvl="1"/>
            <a:r>
              <a:rPr lang="en-US" b="1" dirty="0"/>
              <a:t>Selection Bias:</a:t>
            </a:r>
            <a:r>
              <a:rPr lang="en-US" dirty="0"/>
              <a:t> This is </a:t>
            </a:r>
            <a:r>
              <a:rPr lang="en-US" i="1" dirty="0"/>
              <a:t>not</a:t>
            </a:r>
            <a:r>
              <a:rPr lang="en-US" dirty="0"/>
              <a:t> because auctions are wasteful. It is because we only send the hardest, messiest, and most expensive sites to auction.</a:t>
            </a:r>
          </a:p>
          <a:p>
            <a:pPr lvl="1"/>
            <a:r>
              <a:rPr lang="en-US" dirty="0"/>
              <a:t>We are comparing "apples to oranges"—simple sites stay internal; complex sites go to auction.</a:t>
            </a:r>
          </a:p>
          <a:p>
            <a:endParaRPr lang="en-US" dirty="0"/>
          </a:p>
        </p:txBody>
      </p:sp>
      <p:sp>
        <p:nvSpPr>
          <p:cNvPr id="4" name="Slide Number Placeholder 3">
            <a:extLst>
              <a:ext uri="{FF2B5EF4-FFF2-40B4-BE49-F238E27FC236}">
                <a16:creationId xmlns:a16="http://schemas.microsoft.com/office/drawing/2014/main" id="{DF7AA175-7DF0-681E-2039-95288F16EB3B}"/>
              </a:ext>
            </a:extLst>
          </p:cNvPr>
          <p:cNvSpPr>
            <a:spLocks noGrp="1"/>
          </p:cNvSpPr>
          <p:nvPr>
            <p:ph type="sldNum" sz="quarter" idx="5"/>
          </p:nvPr>
        </p:nvSpPr>
        <p:spPr/>
        <p:txBody>
          <a:bodyPr/>
          <a:lstStyle/>
          <a:p>
            <a:fld id="{1D06B66C-E0D9-4E12-9023-C99C46D6E7F8}" type="slidenum">
              <a:rPr lang="en-US" smtClean="0"/>
              <a:t>19</a:t>
            </a:fld>
            <a:endParaRPr lang="en-US" dirty="0"/>
          </a:p>
        </p:txBody>
      </p:sp>
    </p:spTree>
    <p:extLst>
      <p:ext uri="{BB962C8B-B14F-4D97-AF65-F5344CB8AC3E}">
        <p14:creationId xmlns:p14="http://schemas.microsoft.com/office/powerpoint/2010/main" val="2369904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6DF69-75B7-F3C8-7A81-692299DA2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3C6F3-DAA9-88B8-1174-33A7C517C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34FEF0-BC25-4BDB-2F5F-7EE533E99A25}"/>
              </a:ext>
            </a:extLst>
          </p:cNvPr>
          <p:cNvSpPr>
            <a:spLocks noGrp="1"/>
          </p:cNvSpPr>
          <p:nvPr>
            <p:ph type="body" idx="1"/>
          </p:nvPr>
        </p:nvSpPr>
        <p:spPr/>
        <p:txBody>
          <a:bodyPr/>
          <a:lstStyle/>
          <a:p>
            <a:r>
              <a:rPr lang="en-US" b="1" dirty="0"/>
              <a:t>Claim Duration by Contract Type (Boxplots)</a:t>
            </a:r>
            <a:r>
              <a:rPr lang="en-US" dirty="0"/>
              <a:t> </a:t>
            </a:r>
            <a:r>
              <a:rPr lang="en-US" b="1" dirty="0"/>
              <a:t>Visual Orientation:</a:t>
            </a:r>
            <a:r>
              <a:rPr lang="en-US" dirty="0"/>
              <a:t> "Each box represents the range of claim durations for a different contract type. The line in the middle of the box is the median duration." </a:t>
            </a:r>
            <a:br>
              <a:rPr lang="en-US" dirty="0"/>
            </a:br>
            <a:br>
              <a:rPr lang="en-US" dirty="0"/>
            </a:br>
            <a:r>
              <a:rPr lang="en-US" b="1" dirty="0"/>
              <a:t>The Takeaway:</a:t>
            </a:r>
            <a:r>
              <a:rPr lang="en-US" dirty="0"/>
              <a:t> </a:t>
            </a:r>
            <a:r>
              <a:rPr lang="en-US" i="1" dirty="0"/>
              <a:t>Caution</a:t>
            </a:r>
            <a:r>
              <a:rPr lang="en-US" dirty="0"/>
              <a:t>. Do not misinterpret this chart. The apparent longer duration for competitive contracts is likely a result of selection bias. </a:t>
            </a:r>
            <a:br>
              <a:rPr lang="en-US" dirty="0"/>
            </a:br>
            <a:br>
              <a:rPr lang="en-US" dirty="0"/>
            </a:br>
            <a:r>
              <a:rPr lang="en-US" b="1" dirty="0"/>
              <a:t>Talking Points:</a:t>
            </a:r>
            <a:endParaRPr lang="en-US" dirty="0"/>
          </a:p>
          <a:p>
            <a:r>
              <a:rPr lang="en-US" dirty="0"/>
              <a:t>It appears that </a:t>
            </a:r>
            <a:r>
              <a:rPr lang="en-US" b="1" dirty="0"/>
              <a:t>Competitive Bidding</a:t>
            </a:r>
            <a:r>
              <a:rPr lang="en-US" dirty="0"/>
              <a:t> contracts, such as "Scope of Work (Competitive Fixed Price)" and "Bid-to-Result (Competitive Fixed Price)" (the green and yellow boxes), have longer median durations than </a:t>
            </a:r>
            <a:r>
              <a:rPr lang="en-US" b="1" dirty="0"/>
              <a:t>Sole Source</a:t>
            </a:r>
            <a:r>
              <a:rPr lang="en-US" dirty="0"/>
              <a:t> contracts (the top grey boxes).</a:t>
            </a:r>
          </a:p>
          <a:p>
            <a:br>
              <a:rPr lang="en-US" b="1" dirty="0"/>
            </a:br>
            <a:r>
              <a:rPr lang="en-US" b="1" dirty="0"/>
              <a:t>Selection Bias:</a:t>
            </a:r>
            <a:r>
              <a:rPr lang="en-US" dirty="0"/>
              <a:t> This is </a:t>
            </a:r>
            <a:r>
              <a:rPr lang="en-US" i="1" dirty="0"/>
              <a:t>not</a:t>
            </a:r>
            <a:r>
              <a:rPr lang="en-US" dirty="0"/>
              <a:t> necessarily because the competitive bidding process is slower. It is likely because only the most complex and time-consuming projects are put out for a competitive bid.</a:t>
            </a:r>
          </a:p>
          <a:p>
            <a:r>
              <a:rPr lang="en-US" dirty="0"/>
              <a:t>We are comparing "apples to oranges"—simple projects with shorter expected durations are handled with sole source contracts, while complex projects with longer expected durations are sent to auction.</a:t>
            </a:r>
          </a:p>
          <a:p>
            <a:r>
              <a:rPr lang="en-US" dirty="0"/>
              <a:t>Claims with "No Contract" have the shortest median duration but also a long tail of outliers, indicating a high variability in their resolution times.</a:t>
            </a:r>
          </a:p>
          <a:p>
            <a:endParaRPr lang="en-US" dirty="0"/>
          </a:p>
        </p:txBody>
      </p:sp>
      <p:sp>
        <p:nvSpPr>
          <p:cNvPr id="4" name="Slide Number Placeholder 3">
            <a:extLst>
              <a:ext uri="{FF2B5EF4-FFF2-40B4-BE49-F238E27FC236}">
                <a16:creationId xmlns:a16="http://schemas.microsoft.com/office/drawing/2014/main" id="{54E2396B-980A-AE91-9A3B-A133E871C9F3}"/>
              </a:ext>
            </a:extLst>
          </p:cNvPr>
          <p:cNvSpPr>
            <a:spLocks noGrp="1"/>
          </p:cNvSpPr>
          <p:nvPr>
            <p:ph type="sldNum" sz="quarter" idx="5"/>
          </p:nvPr>
        </p:nvSpPr>
        <p:spPr/>
        <p:txBody>
          <a:bodyPr/>
          <a:lstStyle/>
          <a:p>
            <a:fld id="{1D06B66C-E0D9-4E12-9023-C99C46D6E7F8}" type="slidenum">
              <a:rPr lang="en-US" smtClean="0"/>
              <a:t>20</a:t>
            </a:fld>
            <a:endParaRPr lang="en-US" dirty="0"/>
          </a:p>
        </p:txBody>
      </p:sp>
    </p:spTree>
    <p:extLst>
      <p:ext uri="{BB962C8B-B14F-4D97-AF65-F5344CB8AC3E}">
        <p14:creationId xmlns:p14="http://schemas.microsoft.com/office/powerpoint/2010/main" val="26267712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Visual Orientation</a:t>
            </a:r>
            <a:endParaRPr lang="en-US" dirty="0"/>
          </a:p>
          <a:p>
            <a:r>
              <a:rPr lang="en-US" b="1" dirty="0"/>
              <a:t>The Axes:</a:t>
            </a:r>
            <a:r>
              <a:rPr lang="en-US" dirty="0"/>
              <a:t> The X-axis represents the specific cost of the state's contract intervention ("Contract Value"), while the Y-axis represents the final "Total Claim Cost." Both axes use a logarithmic scale ($10k, $100k, $1M).</a:t>
            </a:r>
          </a:p>
          <a:p>
            <a:r>
              <a:rPr lang="en-US" b="1" dirty="0"/>
              <a:t>The Reference Line:</a:t>
            </a:r>
            <a:r>
              <a:rPr lang="en-US" dirty="0"/>
              <a:t> The red dashed line marks the 45° parity point where Contract Value equals Total Claim Cost (a 1:1 ratio).</a:t>
            </a:r>
          </a:p>
          <a:p>
            <a:r>
              <a:rPr lang="en-US" b="1" dirty="0"/>
              <a:t>The Takeaway: The "Overhead Wedge"</a:t>
            </a:r>
            <a:endParaRPr lang="en-US" dirty="0"/>
          </a:p>
          <a:p>
            <a:r>
              <a:rPr lang="en-US" b="1" dirty="0"/>
              <a:t>Cost Composition:</a:t>
            </a:r>
            <a:r>
              <a:rPr lang="en-US" dirty="0"/>
              <a:t> Virtually all data points lie significantly above the red dashed line. This confirms that the Contract Value is a </a:t>
            </a:r>
            <a:r>
              <a:rPr lang="en-US" i="1" dirty="0"/>
              <a:t>subset</a:t>
            </a:r>
            <a:r>
              <a:rPr lang="en-US" dirty="0"/>
              <a:t> of the Total Claim Cost, and never the totality. There is always a "wedge" of non-contract costs (likely administrative overhead, initial emergency response, or pre-contract assessments) that drives the total claim cost higher than the specific intervention contract.</a:t>
            </a:r>
          </a:p>
          <a:p>
            <a:r>
              <a:rPr lang="en-US" b="1" dirty="0"/>
              <a:t>Scale Variance (The "Share" Question):</a:t>
            </a:r>
            <a:endParaRPr lang="en-US" dirty="0"/>
          </a:p>
          <a:p>
            <a:pPr lvl="1"/>
            <a:r>
              <a:rPr lang="en-US" b="1" dirty="0"/>
              <a:t>High-Cost Claims (Right Side):</a:t>
            </a:r>
            <a:r>
              <a:rPr lang="en-US" dirty="0"/>
              <a:t> As the Contract Value increases (moving right toward $1,000,000), the data points cluster tighter to the red parity line. This indicates that for massive cleanups, the contract intervention becomes the dominant share of the total cost (approaching 100%).</a:t>
            </a:r>
          </a:p>
          <a:p>
            <a:pPr lvl="1"/>
            <a:r>
              <a:rPr lang="en-US" b="1" dirty="0"/>
              <a:t>Low-Cost Claims (Left Side):</a:t>
            </a:r>
            <a:r>
              <a:rPr lang="en-US" dirty="0"/>
              <a:t> For smaller contracts (below $100,000), there is high vertical dispersion. A contract of $10,000 might correspond to a total claim of $100,000+ (a 10x multiplier). This suggests that for smaller interventions, the contract is a minor share of the cost, overshadowed by fixed overheads or other spending categories.</a:t>
            </a:r>
          </a:p>
          <a:p>
            <a:r>
              <a:rPr lang="en-US" b="1" dirty="0"/>
              <a:t>Correlation</a:t>
            </a:r>
            <a:endParaRPr lang="en-US" dirty="0"/>
          </a:p>
          <a:p>
            <a:r>
              <a:rPr lang="en-US" b="1" dirty="0"/>
              <a:t>Predictive Power:</a:t>
            </a:r>
            <a:r>
              <a:rPr lang="en-US" dirty="0"/>
              <a:t> There is a strong, positive linear correlation (in log-log space). While the contract is not the </a:t>
            </a:r>
            <a:r>
              <a:rPr lang="en-US" i="1" dirty="0"/>
              <a:t>whole</a:t>
            </a:r>
            <a:r>
              <a:rPr lang="en-US" dirty="0"/>
              <a:t> cost, it is a highly reliable predictor of the total cost magnitude. As the intervention scales, the total liability scales proportionally.</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21</a:t>
            </a:fld>
            <a:endParaRPr lang="en-US" dirty="0"/>
          </a:p>
        </p:txBody>
      </p:sp>
    </p:spTree>
    <p:extLst>
      <p:ext uri="{BB962C8B-B14F-4D97-AF65-F5344CB8AC3E}">
        <p14:creationId xmlns:p14="http://schemas.microsoft.com/office/powerpoint/2010/main" val="19773689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Predictors of Decreased Auction Probability</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Information Uncertainty:</a:t>
            </a:r>
            <a:r>
              <a:rPr lang="en-US" sz="1200" kern="1200" dirty="0">
                <a:solidFill>
                  <a:schemeClr val="tx1"/>
                </a:solidFill>
                <a:effectLst/>
                <a:latin typeface="+mn-lt"/>
                <a:ea typeface="+mn-ea"/>
                <a:cs typeface="+mn-cs"/>
              </a:rPr>
              <a:t> The most significant deterrent to competitive bidding is missing data. When "Tank Construction is Unknown," the probability of the claim going to auction drops by </a:t>
            </a:r>
            <a:r>
              <a:rPr lang="en-US" sz="1200" b="1" kern="1200" dirty="0">
                <a:solidFill>
                  <a:schemeClr val="tx1"/>
                </a:solidFill>
                <a:effectLst/>
                <a:latin typeface="+mn-lt"/>
                <a:ea typeface="+mn-ea"/>
                <a:cs typeface="+mn-cs"/>
              </a:rPr>
              <a:t>6.46 percentage points</a:t>
            </a:r>
            <a:r>
              <a:rPr lang="en-US" sz="1200" kern="1200" dirty="0">
                <a:solidFill>
                  <a:schemeClr val="tx1"/>
                </a:solidFill>
                <a:effectLst/>
                <a:latin typeface="+mn-lt"/>
                <a:ea typeface="+mn-ea"/>
                <a:cs typeface="+mn-cs"/>
              </a:rPr>
              <a:t> ($p = 0.0101$). This suggests that regulators or contractors avoid fixed-price auctions when the underlying infrastructure risks are opaque.</a:t>
            </a:r>
          </a:p>
          <a:p>
            <a:r>
              <a:rPr lang="en-US" sz="1200" b="1" kern="1200" dirty="0">
                <a:solidFill>
                  <a:schemeClr val="tx1"/>
                </a:solidFill>
                <a:effectLst/>
                <a:latin typeface="+mn-lt"/>
                <a:ea typeface="+mn-ea"/>
                <a:cs typeface="+mn-cs"/>
              </a:rPr>
              <a:t>Institutional Familiarity:</a:t>
            </a:r>
            <a:r>
              <a:rPr lang="en-US" sz="1200" kern="1200" dirty="0">
                <a:solidFill>
                  <a:schemeClr val="tx1"/>
                </a:solidFill>
                <a:effectLst/>
                <a:latin typeface="+mn-lt"/>
                <a:ea typeface="+mn-ea"/>
                <a:cs typeface="+mn-cs"/>
              </a:rPr>
              <a:t> Repeat filers are associated with a </a:t>
            </a:r>
            <a:r>
              <a:rPr lang="en-US" sz="1200" b="1" kern="1200" dirty="0">
                <a:solidFill>
                  <a:schemeClr val="tx1"/>
                </a:solidFill>
                <a:effectLst/>
                <a:latin typeface="+mn-lt"/>
                <a:ea typeface="+mn-ea"/>
                <a:cs typeface="+mn-cs"/>
              </a:rPr>
              <a:t>2.85 percentage point decrease</a:t>
            </a:r>
            <a:r>
              <a:rPr lang="en-US" sz="1200" kern="1200" dirty="0">
                <a:solidFill>
                  <a:schemeClr val="tx1"/>
                </a:solidFill>
                <a:effectLst/>
                <a:latin typeface="+mn-lt"/>
                <a:ea typeface="+mn-ea"/>
                <a:cs typeface="+mn-cs"/>
              </a:rPr>
              <a:t> in auction probability ($p = 0.0275$). This indicates that established relationships or prior experience may streamline the process into non-competitive channels (e.g., sole sourcing) rather than public bidding.</a:t>
            </a:r>
          </a:p>
          <a:p>
            <a:r>
              <a:rPr lang="en-US" sz="1200" b="1" kern="1200" dirty="0">
                <a:solidFill>
                  <a:schemeClr val="tx1"/>
                </a:solidFill>
                <a:effectLst/>
                <a:latin typeface="+mn-lt"/>
                <a:ea typeface="+mn-ea"/>
                <a:cs typeface="+mn-cs"/>
              </a:rPr>
              <a:t>Tank Capacity:</a:t>
            </a:r>
            <a:r>
              <a:rPr lang="en-US" sz="1200" kern="1200" dirty="0">
                <a:solidFill>
                  <a:schemeClr val="tx1"/>
                </a:solidFill>
                <a:effectLst/>
                <a:latin typeface="+mn-lt"/>
                <a:ea typeface="+mn-ea"/>
                <a:cs typeface="+mn-cs"/>
              </a:rPr>
              <a:t> While statistically significant at the 10% level ($p = 0.0690$), "Avg Tank Capacity" shows a coefficient of </a:t>
            </a:r>
            <a:r>
              <a:rPr lang="en-US" sz="1200" b="1" kern="1200" dirty="0">
                <a:solidFill>
                  <a:schemeClr val="tx1"/>
                </a:solidFill>
                <a:effectLst/>
                <a:latin typeface="+mn-lt"/>
                <a:ea typeface="+mn-ea"/>
                <a:cs typeface="+mn-cs"/>
              </a:rPr>
              <a:t>-0.00%</a:t>
            </a:r>
            <a:r>
              <a:rPr lang="en-US" sz="1200" kern="1200" dirty="0">
                <a:solidFill>
                  <a:schemeClr val="tx1"/>
                </a:solidFill>
                <a:effectLst/>
                <a:latin typeface="+mn-lt"/>
                <a:ea typeface="+mn-ea"/>
                <a:cs typeface="+mn-cs"/>
              </a:rPr>
              <a:t>, indicating no practical impact on the decision to auction despite the mathematical correlation.</a:t>
            </a:r>
          </a:p>
          <a:p>
            <a:r>
              <a:rPr lang="en-US" sz="1200" b="1" kern="1200" dirty="0">
                <a:solidFill>
                  <a:schemeClr val="tx1"/>
                </a:solidFill>
                <a:effectLst/>
                <a:latin typeface="+mn-lt"/>
                <a:ea typeface="+mn-ea"/>
                <a:cs typeface="+mn-cs"/>
              </a:rPr>
              <a:t>Predictors of Increased Auction Probability</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Facility Scale:</a:t>
            </a:r>
            <a:r>
              <a:rPr lang="en-US" sz="1200" kern="1200" dirty="0">
                <a:solidFill>
                  <a:schemeClr val="tx1"/>
                </a:solidFill>
                <a:effectLst/>
                <a:latin typeface="+mn-lt"/>
                <a:ea typeface="+mn-ea"/>
                <a:cs typeface="+mn-cs"/>
              </a:rPr>
              <a:t> There is a marginal positive association with facility size. For each additional tank at a facility, the probability of an auction increases by </a:t>
            </a:r>
            <a:r>
              <a:rPr lang="en-US" sz="1200" b="1" kern="1200" dirty="0">
                <a:solidFill>
                  <a:schemeClr val="tx1"/>
                </a:solidFill>
                <a:effectLst/>
                <a:latin typeface="+mn-lt"/>
                <a:ea typeface="+mn-ea"/>
                <a:cs typeface="+mn-cs"/>
              </a:rPr>
              <a:t>0.15 percentage points</a:t>
            </a:r>
            <a:r>
              <a:rPr lang="en-US" sz="1200" kern="1200" dirty="0">
                <a:solidFill>
                  <a:schemeClr val="tx1"/>
                </a:solidFill>
                <a:effectLst/>
                <a:latin typeface="+mn-lt"/>
                <a:ea typeface="+mn-ea"/>
                <a:cs typeface="+mn-cs"/>
              </a:rPr>
              <a:t> ($p = 0.0587$). This suggests a slight tendency to send larger, more complex sites to competitive bid.</a:t>
            </a:r>
          </a:p>
          <a:p>
            <a:r>
              <a:rPr lang="en-US" sz="1200" b="1" kern="1200" dirty="0">
                <a:solidFill>
                  <a:schemeClr val="tx1"/>
                </a:solidFill>
                <a:effectLst/>
                <a:latin typeface="+mn-lt"/>
                <a:ea typeface="+mn-ea"/>
                <a:cs typeface="+mn-cs"/>
              </a:rPr>
              <a:t>Model Constraints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Significance Thresholds:</a:t>
            </a:r>
            <a:r>
              <a:rPr lang="en-US" sz="1200" kern="1200" dirty="0">
                <a:solidFill>
                  <a:schemeClr val="tx1"/>
                </a:solidFill>
                <a:effectLst/>
                <a:latin typeface="+mn-lt"/>
                <a:ea typeface="+mn-ea"/>
                <a:cs typeface="+mn-cs"/>
              </a:rPr>
              <a:t> Unlike previous models where most variables were highly significant ($p &lt; 0.001$), this model relies on weaker signals. "Total Tanks" and "Avg Tank Capacity" meet only the 10% confidence threshold ($p &lt; 0.10$), making them less robust predictors than "Unknown Construction" or "Repeat Filer".</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22</a:t>
            </a:fld>
            <a:endParaRPr lang="en-US" dirty="0"/>
          </a:p>
        </p:txBody>
      </p:sp>
    </p:spTree>
    <p:extLst>
      <p:ext uri="{BB962C8B-B14F-4D97-AF65-F5344CB8AC3E}">
        <p14:creationId xmlns:p14="http://schemas.microsoft.com/office/powerpoint/2010/main" val="1446659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3BD45-0E0F-2FCE-85FB-7688036025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A487C-A7EA-C506-9C17-40044F2B04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061D5-FE52-58A2-0CDE-EE02959914A8}"/>
              </a:ext>
            </a:extLst>
          </p:cNvPr>
          <p:cNvSpPr>
            <a:spLocks noGrp="1"/>
          </p:cNvSpPr>
          <p:nvPr>
            <p:ph type="body" idx="1"/>
          </p:nvPr>
        </p:nvSpPr>
        <p:spPr/>
        <p:txBody>
          <a:bodyPr/>
          <a:lstStyle/>
          <a:p>
            <a:r>
              <a:rPr lang="en-US" b="1" dirty="0"/>
              <a:t>Slide 23: Pre-Auction Spending vs. Time (Scatterplot)</a:t>
            </a:r>
          </a:p>
          <a:p>
            <a:r>
              <a:rPr lang="en-US" b="1" dirty="0"/>
              <a:t>Visual Orientation:</a:t>
            </a:r>
            <a:r>
              <a:rPr lang="en-US" dirty="0"/>
              <a:t> "Each dot is a claim. The bottom axis is years until we held an auction. The vertical axis is money spent </a:t>
            </a:r>
            <a:r>
              <a:rPr lang="en-US" i="1" dirty="0"/>
              <a:t>before</a:t>
            </a:r>
            <a:r>
              <a:rPr lang="en-US" dirty="0"/>
              <a:t> the auction even started."</a:t>
            </a:r>
          </a:p>
          <a:p>
            <a:r>
              <a:rPr lang="en-US" b="1" dirty="0"/>
              <a:t>The Takeaway:</a:t>
            </a:r>
            <a:r>
              <a:rPr lang="en-US" dirty="0"/>
              <a:t> Delay has a price tag.</a:t>
            </a:r>
          </a:p>
          <a:p>
            <a:r>
              <a:rPr lang="en-US" b="1" dirty="0"/>
              <a:t>Talking Points:</a:t>
            </a:r>
            <a:endParaRPr lang="en-US" dirty="0"/>
          </a:p>
          <a:p>
            <a:pPr lvl="1"/>
            <a:r>
              <a:rPr lang="en-US" dirty="0"/>
              <a:t>The line trends upward. The longer we wait to intervene, the more money we burn on "pre-auction" activities. </a:t>
            </a:r>
          </a:p>
          <a:p>
            <a:pPr lvl="1"/>
            <a:r>
              <a:rPr lang="en-US" dirty="0"/>
              <a:t>Claims sitting for 10+ years often accumulate </a:t>
            </a:r>
            <a:r>
              <a:rPr lang="en-US" b="1" dirty="0"/>
              <a:t>$1 million+</a:t>
            </a:r>
            <a:r>
              <a:rPr lang="en-US" dirty="0"/>
              <a:t> in costs before we ever get a fixed-price contract in place.</a:t>
            </a:r>
          </a:p>
          <a:p>
            <a:pPr lvl="1"/>
            <a:r>
              <a:rPr lang="en-US" dirty="0"/>
              <a:t>While some investigation is necessary, this suggests we may be waiting too long on "zombie claims."</a:t>
            </a:r>
          </a:p>
          <a:p>
            <a:endParaRPr lang="en-US" dirty="0"/>
          </a:p>
        </p:txBody>
      </p:sp>
      <p:sp>
        <p:nvSpPr>
          <p:cNvPr id="4" name="Slide Number Placeholder 3">
            <a:extLst>
              <a:ext uri="{FF2B5EF4-FFF2-40B4-BE49-F238E27FC236}">
                <a16:creationId xmlns:a16="http://schemas.microsoft.com/office/drawing/2014/main" id="{66E263B9-478B-4EE4-C8E3-90223F05B19C}"/>
              </a:ext>
            </a:extLst>
          </p:cNvPr>
          <p:cNvSpPr>
            <a:spLocks noGrp="1"/>
          </p:cNvSpPr>
          <p:nvPr>
            <p:ph type="sldNum" sz="quarter" idx="5"/>
          </p:nvPr>
        </p:nvSpPr>
        <p:spPr/>
        <p:txBody>
          <a:bodyPr/>
          <a:lstStyle/>
          <a:p>
            <a:fld id="{1D06B66C-E0D9-4E12-9023-C99C46D6E7F8}" type="slidenum">
              <a:rPr lang="en-US" smtClean="0"/>
              <a:t>23</a:t>
            </a:fld>
            <a:endParaRPr lang="en-US" dirty="0"/>
          </a:p>
        </p:txBody>
      </p:sp>
    </p:spTree>
    <p:extLst>
      <p:ext uri="{BB962C8B-B14F-4D97-AF65-F5344CB8AC3E}">
        <p14:creationId xmlns:p14="http://schemas.microsoft.com/office/powerpoint/2010/main" val="4859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24: The Tacit Rule (Kaplan-Meier Curve)</a:t>
            </a:r>
          </a:p>
          <a:p>
            <a:r>
              <a:rPr lang="en-US" b="1" dirty="0"/>
              <a:t>Visual Orientation:</a:t>
            </a:r>
            <a:r>
              <a:rPr lang="en-US" dirty="0"/>
              <a:t> "This is a survival curve. It shows the probability of a claim going to auction over time."</a:t>
            </a:r>
          </a:p>
          <a:p>
            <a:r>
              <a:rPr lang="en-US" b="1" dirty="0"/>
              <a:t>The Takeaway:</a:t>
            </a:r>
            <a:r>
              <a:rPr lang="en-US" dirty="0"/>
              <a:t> There is an unwritten "4-Year Rule."</a:t>
            </a:r>
          </a:p>
          <a:p>
            <a:r>
              <a:rPr lang="en-US" b="1" dirty="0"/>
              <a:t>Talking Points:</a:t>
            </a:r>
            <a:endParaRPr lang="en-US" dirty="0"/>
          </a:p>
          <a:p>
            <a:pPr lvl="1"/>
            <a:r>
              <a:rPr lang="en-US" dirty="0"/>
              <a:t>Look at the shape of the red line. It stays flat, then starts rising steeply around </a:t>
            </a:r>
            <a:r>
              <a:rPr lang="en-US" b="1" dirty="0"/>
              <a:t>Year 4</a:t>
            </a:r>
            <a:r>
              <a:rPr lang="en-US" dirty="0"/>
              <a:t>. </a:t>
            </a:r>
          </a:p>
          <a:p>
            <a:pPr lvl="1"/>
            <a:r>
              <a:rPr lang="en-US" b="1" dirty="0"/>
              <a:t>The Insight:</a:t>
            </a:r>
            <a:r>
              <a:rPr lang="en-US" dirty="0"/>
              <a:t> Adjusters generally try to manage claims internally for about 4 years. If it's not fixed by then, they "give up" and send it to auction.</a:t>
            </a:r>
          </a:p>
          <a:p>
            <a:pPr lvl="1"/>
            <a:r>
              <a:rPr lang="en-US" b="1" dirty="0"/>
              <a:t>The Question:</a:t>
            </a:r>
            <a:r>
              <a:rPr lang="en-US" dirty="0"/>
              <a:t> If we know at Year 1 that a claim is complex, why wait until Year 4? We are paying 3 years of holding costs just to reach the same conclusion.</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24</a:t>
            </a:fld>
            <a:endParaRPr lang="en-US" dirty="0"/>
          </a:p>
        </p:txBody>
      </p:sp>
    </p:spTree>
    <p:extLst>
      <p:ext uri="{BB962C8B-B14F-4D97-AF65-F5344CB8AC3E}">
        <p14:creationId xmlns:p14="http://schemas.microsoft.com/office/powerpoint/2010/main" val="27055651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25: Regional Variation (Regional Curves)</a:t>
            </a:r>
          </a:p>
          <a:p>
            <a:r>
              <a:rPr lang="en-US" b="1" dirty="0"/>
              <a:t>Visual Orientation:</a:t>
            </a:r>
            <a:r>
              <a:rPr lang="en-US" dirty="0"/>
              <a:t> "This is the same 'Waiting Game' curve, but broken down by DEP Region."</a:t>
            </a:r>
          </a:p>
          <a:p>
            <a:r>
              <a:rPr lang="en-US" b="1" dirty="0"/>
              <a:t>The Takeaway:</a:t>
            </a:r>
            <a:r>
              <a:rPr lang="en-US" dirty="0"/>
              <a:t> We lack a standardized statewide policy.</a:t>
            </a:r>
          </a:p>
          <a:p>
            <a:r>
              <a:rPr lang="en-US" b="1" dirty="0"/>
              <a:t>Talking Points:</a:t>
            </a:r>
            <a:endParaRPr lang="en-US" dirty="0"/>
          </a:p>
          <a:p>
            <a:pPr lvl="1"/>
            <a:r>
              <a:rPr lang="en-US" dirty="0"/>
              <a:t>The lines are not together. Some regions (yellow/purple lines) are aggressive—they send claims to auction quickly.</a:t>
            </a:r>
          </a:p>
          <a:p>
            <a:pPr lvl="1"/>
            <a:r>
              <a:rPr lang="en-US" dirty="0"/>
              <a:t>Other regions (green/red lines) wait much longer. </a:t>
            </a:r>
          </a:p>
          <a:p>
            <a:pPr lvl="1"/>
            <a:r>
              <a:rPr lang="en-US" dirty="0"/>
              <a:t>This inconsistency suggest region to region variation. Note this could be spurious, perhaps this picks up region specific challenge like rural vs city, soil, water access etc.</a:t>
            </a:r>
          </a:p>
          <a:p>
            <a:pPr lvl="1"/>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25</a:t>
            </a:fld>
            <a:endParaRPr lang="en-US" dirty="0"/>
          </a:p>
        </p:txBody>
      </p:sp>
    </p:spTree>
    <p:extLst>
      <p:ext uri="{BB962C8B-B14F-4D97-AF65-F5344CB8AC3E}">
        <p14:creationId xmlns:p14="http://schemas.microsoft.com/office/powerpoint/2010/main" val="3841206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Auction Market Concentration (The "Bubble" Chart)</a:t>
            </a:r>
            <a:r>
              <a:rPr lang="en-US" dirty="0"/>
              <a:t> "This chart visualizes contract volume and market concentration from 2000 to the present. </a:t>
            </a:r>
            <a:br>
              <a:rPr lang="en-US" dirty="0"/>
            </a:br>
            <a:r>
              <a:rPr lang="en-US" dirty="0"/>
              <a:t>The bubbles represent annual contract volume, and the red color coding indicates a high HHI score (high concentration).</a:t>
            </a:r>
          </a:p>
          <a:p>
            <a:endParaRPr lang="en-US" dirty="0"/>
          </a:p>
          <a:p>
            <a:r>
              <a:rPr lang="en-US" dirty="0"/>
              <a:t>However, we must interpret the 'red' status with caution. Many bubbles contain very low integers (e.g., 1–5 contracts) . </a:t>
            </a:r>
            <a:br>
              <a:rPr lang="en-US" dirty="0"/>
            </a:br>
            <a:r>
              <a:rPr lang="en-US" dirty="0"/>
              <a:t>Because HHI is a mechanical calculation, scores automatically reflect 'high concentration' in years with low volume, regardless of actual competitive health. </a:t>
            </a:r>
            <a:br>
              <a:rPr lang="en-US" dirty="0"/>
            </a:br>
            <a:r>
              <a:rPr lang="en-US" dirty="0"/>
              <a:t>The data suggests we are viewing a 'small numbers' problem rather than a pure market failure."</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27</a:t>
            </a:fld>
            <a:endParaRPr lang="en-US" dirty="0"/>
          </a:p>
        </p:txBody>
      </p:sp>
    </p:spTree>
    <p:extLst>
      <p:ext uri="{BB962C8B-B14F-4D97-AF65-F5344CB8AC3E}">
        <p14:creationId xmlns:p14="http://schemas.microsoft.com/office/powerpoint/2010/main" val="1118953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B7B73-EC6E-6F83-89D2-1B5E040B2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2C29D-544F-8502-D165-681C098AC7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760F00-CA0E-FEE8-A7E2-0610B728995E}"/>
              </a:ext>
            </a:extLst>
          </p:cNvPr>
          <p:cNvSpPr>
            <a:spLocks noGrp="1"/>
          </p:cNvSpPr>
          <p:nvPr>
            <p:ph type="body" idx="1"/>
          </p:nvPr>
        </p:nvSpPr>
        <p:spPr/>
        <p:txBody>
          <a:bodyPr/>
          <a:lstStyle/>
          <a:p>
            <a:r>
              <a:rPr lang="en-US" dirty="0"/>
              <a:t>This table averages competition metrics over the full 30-year period. </a:t>
            </a:r>
            <a:br>
              <a:rPr lang="en-US" dirty="0"/>
            </a:br>
            <a:r>
              <a:rPr lang="en-US" dirty="0"/>
              <a:t>A key focal point is the </a:t>
            </a:r>
            <a:r>
              <a:rPr lang="en-US" b="1" dirty="0"/>
              <a:t>'Top Firm Win Share'</a:t>
            </a:r>
            <a:r>
              <a:rPr lang="en-US" dirty="0"/>
              <a:t> column, which shows that for 'Bid-to-Result' contracts, the top firm in any given year captures </a:t>
            </a:r>
            <a:r>
              <a:rPr lang="en-US" b="1" dirty="0"/>
              <a:t>45.8%</a:t>
            </a:r>
            <a:r>
              <a:rPr lang="en-US" dirty="0"/>
              <a:t> of the market on average.</a:t>
            </a:r>
            <a:br>
              <a:rPr lang="en-US" dirty="0"/>
            </a:br>
            <a:endParaRPr lang="en-US" dirty="0"/>
          </a:p>
          <a:p>
            <a:r>
              <a:rPr lang="en-US" dirty="0"/>
              <a:t>It is critical to distinguish this metric from the 'Win Share' you will see on the next slide. </a:t>
            </a:r>
            <a:br>
              <a:rPr lang="en-US" dirty="0"/>
            </a:br>
            <a:r>
              <a:rPr lang="en-US" dirty="0"/>
              <a:t>This table measures </a:t>
            </a:r>
            <a:r>
              <a:rPr lang="en-US" b="1" dirty="0"/>
              <a:t>Annual Intensity</a:t>
            </a:r>
            <a:r>
              <a:rPr lang="en-US" dirty="0"/>
              <a:t>: it calculates the market share of the winner in each specific year and averages those percentages. </a:t>
            </a:r>
            <a:br>
              <a:rPr lang="en-US" dirty="0"/>
            </a:br>
            <a:r>
              <a:rPr lang="en-US" dirty="0"/>
              <a:t>It answers the question: </a:t>
            </a:r>
            <a:r>
              <a:rPr lang="en-US" i="1" dirty="0"/>
              <a:t>'In a typical year, how much of the pie does the winner take?'</a:t>
            </a:r>
            <a:r>
              <a:rPr lang="en-US" dirty="0"/>
              <a:t> If Firm A wins 100% of contracts in 2010 and Firm B wins 100% in 2011, this metric would report 100%, capturing short-term monopolization</a:t>
            </a:r>
          </a:p>
          <a:p>
            <a:endParaRPr lang="en-US" dirty="0"/>
          </a:p>
        </p:txBody>
      </p:sp>
      <p:sp>
        <p:nvSpPr>
          <p:cNvPr id="4" name="Slide Number Placeholder 3">
            <a:extLst>
              <a:ext uri="{FF2B5EF4-FFF2-40B4-BE49-F238E27FC236}">
                <a16:creationId xmlns:a16="http://schemas.microsoft.com/office/drawing/2014/main" id="{FDE81381-2610-5696-C9FA-3D79FFA322C8}"/>
              </a:ext>
            </a:extLst>
          </p:cNvPr>
          <p:cNvSpPr>
            <a:spLocks noGrp="1"/>
          </p:cNvSpPr>
          <p:nvPr>
            <p:ph type="sldNum" sz="quarter" idx="5"/>
          </p:nvPr>
        </p:nvSpPr>
        <p:spPr/>
        <p:txBody>
          <a:bodyPr/>
          <a:lstStyle/>
          <a:p>
            <a:fld id="{1D06B66C-E0D9-4E12-9023-C99C46D6E7F8}" type="slidenum">
              <a:rPr lang="en-US" smtClean="0"/>
              <a:t>28</a:t>
            </a:fld>
            <a:endParaRPr lang="en-US" dirty="0"/>
          </a:p>
        </p:txBody>
      </p:sp>
    </p:spTree>
    <p:extLst>
      <p:ext uri="{BB962C8B-B14F-4D97-AF65-F5344CB8AC3E}">
        <p14:creationId xmlns:p14="http://schemas.microsoft.com/office/powerpoint/2010/main" val="22422141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The Metric Discrepancy: Lifetime vs. Annual Dominance</a:t>
            </a:r>
            <a:br>
              <a:rPr lang="en-US" b="1" dirty="0"/>
            </a:br>
            <a:r>
              <a:rPr lang="en-US" dirty="0"/>
              <a:t> "This table presents a critical nuance in how we measure market power. You might notice a discrepancy: on the previous slide, we saw a 'Top Firm Win Share' of roughly </a:t>
            </a:r>
            <a:r>
              <a:rPr lang="en-US" b="1" dirty="0"/>
              <a:t>45.8%</a:t>
            </a:r>
            <a:r>
              <a:rPr lang="en-US" dirty="0"/>
              <a:t>, but here, the 'Win Share' for the same category is only </a:t>
            </a:r>
            <a:r>
              <a:rPr lang="en-US" b="1" dirty="0"/>
              <a:t>20.0%</a:t>
            </a:r>
            <a:r>
              <a:rPr lang="en-US" dirty="0"/>
              <a:t>.</a:t>
            </a:r>
          </a:p>
          <a:p>
            <a:r>
              <a:rPr lang="en-US" dirty="0"/>
              <a:t>This is not an error; it is a difference in perspective. The previous table measured </a:t>
            </a:r>
            <a:r>
              <a:rPr lang="en-US" i="1" dirty="0"/>
              <a:t>Annual Intensity</a:t>
            </a:r>
            <a:r>
              <a:rPr lang="en-US" dirty="0"/>
              <a:t>—how much the winner takes in a single year. </a:t>
            </a:r>
            <a:br>
              <a:rPr lang="en-US" dirty="0"/>
            </a:br>
            <a:r>
              <a:rPr lang="en-US" dirty="0"/>
              <a:t>This table measures </a:t>
            </a:r>
            <a:r>
              <a:rPr lang="en-US" b="1" dirty="0"/>
              <a:t>Lifetime Dominance</a:t>
            </a:r>
            <a:r>
              <a:rPr lang="en-US" dirty="0"/>
              <a:t>. It answers the question: </a:t>
            </a:r>
            <a:r>
              <a:rPr lang="en-US" i="1" dirty="0"/>
              <a:t>'Over the last 30 years, how much of the total market did the single biggest player capture?'</a:t>
            </a:r>
            <a:endParaRPr lang="en-US" dirty="0"/>
          </a:p>
          <a:p>
            <a:r>
              <a:rPr lang="en-US" dirty="0"/>
              <a:t>To illustrate: If Firm A wins everything in 2010 and Firm B wins everything in 2011, the 'Annual' metric is 100% (total dominance per year), but the 'Lifetime' metric is only 50% (shared dominance over time). This tells us that while our market is highly concentrated in any given year, leadership does rotate somewhat over the decades."</a:t>
            </a:r>
          </a:p>
          <a:p>
            <a:br>
              <a:rPr lang="en-US" b="1" dirty="0"/>
            </a:br>
            <a:r>
              <a:rPr lang="en-US" b="1" dirty="0"/>
              <a:t>2. The Market Leader</a:t>
            </a:r>
            <a:br>
              <a:rPr lang="en-US" b="1" dirty="0"/>
            </a:br>
            <a:r>
              <a:rPr lang="en-US" dirty="0"/>
              <a:t> "Despite that rotation, one name stands out. </a:t>
            </a:r>
            <a:r>
              <a:rPr lang="en-US" b="1" dirty="0"/>
              <a:t>Letterle &amp; Associates</a:t>
            </a:r>
            <a:r>
              <a:rPr lang="en-US" dirty="0"/>
              <a:t> is the dominant 'Global Leader' across three major categories: Bid-to-Result, Sole Source (Fixed Price), and Sole Source (Pay for Performance).</a:t>
            </a:r>
            <a:br>
              <a:rPr lang="en-US" dirty="0"/>
            </a:br>
            <a:r>
              <a:rPr lang="en-US" dirty="0"/>
              <a:t> They are the recurring 'winner' in the dataset."</a:t>
            </a:r>
          </a:p>
          <a:p>
            <a:r>
              <a:rPr lang="en-US" b="1" dirty="0"/>
              <a:t>3. The Cost Ambiguity (Relative Cost)</a:t>
            </a:r>
            <a:r>
              <a:rPr lang="en-US" dirty="0"/>
              <a:t> </a:t>
            </a:r>
            <a:br>
              <a:rPr lang="en-US" dirty="0"/>
            </a:br>
            <a:r>
              <a:rPr lang="en-US" dirty="0"/>
              <a:t>"Crucially, we need to analyze the cost of their dominance. Letterle’s </a:t>
            </a:r>
            <a:r>
              <a:rPr lang="en-US" b="1" dirty="0"/>
              <a:t>Relative Cost is 1.39</a:t>
            </a:r>
            <a:r>
              <a:rPr lang="en-US" dirty="0"/>
              <a:t> in the competitive 'Bid-to-Result' category.</a:t>
            </a:r>
          </a:p>
          <a:p>
            <a:r>
              <a:rPr lang="en-US" dirty="0"/>
              <a:t>This means their winning contracts are </a:t>
            </a:r>
            <a:r>
              <a:rPr lang="en-US" b="1" dirty="0"/>
              <a:t>39% more expensive</a:t>
            </a:r>
            <a:r>
              <a:rPr lang="en-US" dirty="0"/>
              <a:t> than the market average.</a:t>
            </a:r>
            <a:br>
              <a:rPr lang="en-US" dirty="0"/>
            </a:br>
            <a:r>
              <a:rPr lang="en-US" dirty="0"/>
              <a:t> This raises a classic economic question regarding dominant firms: </a:t>
            </a:r>
            <a:r>
              <a:rPr lang="en-US" b="1" dirty="0"/>
              <a:t>Is this a premium for Complexity or a premium for Market Power?</a:t>
            </a:r>
            <a:endParaRPr lang="en-US" dirty="0"/>
          </a:p>
          <a:p>
            <a:r>
              <a:rPr lang="en-US" i="1" dirty="0"/>
              <a:t>Hypothesis A (Complexity):</a:t>
            </a:r>
            <a:r>
              <a:rPr lang="en-US" dirty="0"/>
              <a:t> They are the most technically advanced firm, winning the high-liability 'mega-projects' that other firms cannot touch.</a:t>
            </a:r>
          </a:p>
          <a:p>
            <a:r>
              <a:rPr lang="en-US" i="1" dirty="0"/>
              <a:t>Hypothesis B (Market Power):</a:t>
            </a:r>
            <a:r>
              <a:rPr lang="en-US" dirty="0"/>
              <a:t> They charge higher prices simply because they are the entrenched leader with limited competition.</a:t>
            </a:r>
          </a:p>
          <a:p>
            <a:r>
              <a:rPr lang="en-US" dirty="0"/>
              <a:t>The current data confirms the cost disparity but </a:t>
            </a:r>
            <a:r>
              <a:rPr lang="en-US" b="1" dirty="0"/>
              <a:t>does not yet isolate the cause</a:t>
            </a:r>
            <a:r>
              <a:rPr lang="en-US" dirty="0"/>
              <a:t>. Further analysis is required to determine if their specific sites are indeed </a:t>
            </a:r>
            <a:r>
              <a:rPr lang="en-US" dirty="0" err="1"/>
              <a:t>hydrogeologically</a:t>
            </a:r>
            <a:r>
              <a:rPr lang="en-US" dirty="0"/>
              <a:t> more complex than the average. Interestingly, for Sole Source (Pay for Performance) contracts, their cost ratio drops to </a:t>
            </a:r>
            <a:r>
              <a:rPr lang="en-US" b="1" dirty="0"/>
              <a:t>0.99</a:t>
            </a:r>
            <a:r>
              <a:rPr lang="en-US" dirty="0"/>
              <a:t>, suggesting their pricing aligns with the market average when the contract structure changes."</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29</a:t>
            </a:fld>
            <a:endParaRPr lang="en-US" dirty="0"/>
          </a:p>
        </p:txBody>
      </p:sp>
    </p:spTree>
    <p:extLst>
      <p:ext uri="{BB962C8B-B14F-4D97-AF65-F5344CB8AC3E}">
        <p14:creationId xmlns:p14="http://schemas.microsoft.com/office/powerpoint/2010/main" val="4341013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visualizes the geographic distribution of competition. </a:t>
            </a:r>
          </a:p>
          <a:p>
            <a:r>
              <a:rPr lang="en-US" b="1" dirty="0"/>
              <a:t>Darker counties</a:t>
            </a:r>
            <a:r>
              <a:rPr lang="en-US" dirty="0"/>
              <a:t> represent areas with higher HHI scores (fewer winning firms).</a:t>
            </a:r>
          </a:p>
          <a:p>
            <a:r>
              <a:rPr lang="en-US" dirty="0"/>
              <a:t>The variation demonstrates that competition is not uniform.</a:t>
            </a:r>
          </a:p>
          <a:p>
            <a:r>
              <a:rPr lang="en-US" dirty="0"/>
              <a:t> We see distinct 'competition deserts,' particularly in the Northcentral and Western regions, where the market is locked down by very few vendors.</a:t>
            </a:r>
          </a:p>
          <a:p>
            <a:r>
              <a:rPr lang="en-US" dirty="0"/>
              <a:t> This implies that the competition problem is partly a </a:t>
            </a:r>
            <a:r>
              <a:rPr lang="en-US" b="1" dirty="0"/>
              <a:t>geographic availability</a:t>
            </a:r>
            <a:r>
              <a:rPr lang="en-US" dirty="0"/>
              <a:t> issue.</a:t>
            </a:r>
          </a:p>
        </p:txBody>
      </p:sp>
      <p:sp>
        <p:nvSpPr>
          <p:cNvPr id="4" name="Slide Number Placeholder 3"/>
          <p:cNvSpPr>
            <a:spLocks noGrp="1"/>
          </p:cNvSpPr>
          <p:nvPr>
            <p:ph type="sldNum" sz="quarter" idx="5"/>
          </p:nvPr>
        </p:nvSpPr>
        <p:spPr/>
        <p:txBody>
          <a:bodyPr/>
          <a:lstStyle/>
          <a:p>
            <a:fld id="{1D06B66C-E0D9-4E12-9023-C99C46D6E7F8}" type="slidenum">
              <a:rPr lang="en-US" smtClean="0"/>
              <a:t>30</a:t>
            </a:fld>
            <a:endParaRPr lang="en-US" dirty="0"/>
          </a:p>
        </p:txBody>
      </p:sp>
    </p:spTree>
    <p:extLst>
      <p:ext uri="{BB962C8B-B14F-4D97-AF65-F5344CB8AC3E}">
        <p14:creationId xmlns:p14="http://schemas.microsoft.com/office/powerpoint/2010/main" val="17216317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Visual Orientation:</a:t>
            </a:r>
            <a:r>
              <a:rPr lang="en-US" dirty="0"/>
              <a:t> "This slide summarizes where we stand in the analysis and identifies the 'Gap' we are trying to bridge." </a:t>
            </a:r>
          </a:p>
          <a:p>
            <a:r>
              <a:rPr lang="en-US" b="1" dirty="0"/>
              <a:t>The Takeaway:</a:t>
            </a:r>
            <a:r>
              <a:rPr lang="en-US" dirty="0"/>
              <a:t> We have identified the current behavior, but we haven't yet proven what the 'optimal' behavior should be. </a:t>
            </a:r>
          </a:p>
          <a:p>
            <a:r>
              <a:rPr lang="en-US" b="1" dirty="0"/>
              <a:t>Talking Points:</a:t>
            </a:r>
            <a:endParaRPr lang="en-US" dirty="0"/>
          </a:p>
          <a:p>
            <a:r>
              <a:rPr lang="en-US" b="1" dirty="0"/>
              <a:t>The 4-Year Baseline:</a:t>
            </a:r>
            <a:r>
              <a:rPr lang="en-US" dirty="0"/>
              <a:t> Our data confirms that the current 'Tacit Rule' for adjusters is to wait until Year 4 to escalate a claim to auction. </a:t>
            </a:r>
          </a:p>
          <a:p>
            <a:r>
              <a:rPr lang="en-US" b="1" dirty="0"/>
              <a:t>The Optimization Goal:</a:t>
            </a:r>
            <a:r>
              <a:rPr lang="en-US" dirty="0"/>
              <a:t> We want to move from a reactive system (waiting for a claim to stall) to a proactive system (predicting a claim will stall). </a:t>
            </a:r>
          </a:p>
          <a:p>
            <a:r>
              <a:rPr lang="en-US" b="1" dirty="0"/>
              <a:t>The Three Pillars of Value:</a:t>
            </a:r>
            <a:r>
              <a:rPr lang="en-US" dirty="0"/>
              <a:t> To justify an earlier auction, we need to prove it either saves money, saves time, or results in higher-quality remediation. </a:t>
            </a:r>
          </a:p>
          <a:p>
            <a:r>
              <a:rPr lang="en-US" b="1" dirty="0"/>
              <a:t>The Challenge:</a:t>
            </a:r>
            <a:r>
              <a:rPr lang="en-US" dirty="0"/>
              <a:t> Current data doesn't yet allow us to see the 'Alternative Universe'—what would have happened if we auctioned a site in Year 1 versus Year 4</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32</a:t>
            </a:fld>
            <a:endParaRPr lang="en-US" dirty="0"/>
          </a:p>
        </p:txBody>
      </p:sp>
    </p:spTree>
    <p:extLst>
      <p:ext uri="{BB962C8B-B14F-4D97-AF65-F5344CB8AC3E}">
        <p14:creationId xmlns:p14="http://schemas.microsoft.com/office/powerpoint/2010/main" val="27338891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The Early Warning System (Risk Score)</a:t>
            </a:r>
          </a:p>
          <a:p>
            <a:r>
              <a:rPr lang="en-US" dirty="0"/>
              <a:t>Think of the Risk Score as a </a:t>
            </a:r>
            <a:r>
              <a:rPr lang="en-US" b="1" dirty="0"/>
              <a:t>"Day 1 Radar."</a:t>
            </a:r>
            <a:endParaRPr lang="en-US" dirty="0"/>
          </a:p>
          <a:p>
            <a:r>
              <a:rPr lang="en-US" b="1" dirty="0"/>
              <a:t>How it works:</a:t>
            </a:r>
            <a:r>
              <a:rPr lang="en-US" dirty="0"/>
              <a:t> As soon as a new claim hits an adjuster's desk, the model scans the basic facts available </a:t>
            </a:r>
            <a:r>
              <a:rPr lang="en-US" i="1" dirty="0"/>
              <a:t>at that exact moment</a:t>
            </a:r>
            <a:r>
              <a:rPr lang="en-US" dirty="0"/>
              <a:t>—such as the age of the tank, the type of soil, the region, and the facility history.</a:t>
            </a:r>
          </a:p>
          <a:p>
            <a:r>
              <a:rPr lang="en-US" b="1" dirty="0"/>
              <a:t>What it does:</a:t>
            </a:r>
            <a:r>
              <a:rPr lang="en-US" dirty="0"/>
              <a:t> It compares these initial facts against thousands of historical cases to answer one question: </a:t>
            </a:r>
            <a:r>
              <a:rPr lang="en-US" i="1" dirty="0"/>
              <a:t>"Based on what we see right now, does this look like a claim that will spiral out of control?"</a:t>
            </a:r>
            <a:endParaRPr lang="en-US" dirty="0"/>
          </a:p>
          <a:p>
            <a:r>
              <a:rPr lang="en-US" b="1" dirty="0"/>
              <a:t>The Result:</a:t>
            </a:r>
            <a:r>
              <a:rPr lang="en-US" dirty="0"/>
              <a:t> It assigns a simple 0% to 100% "severity rating."</a:t>
            </a:r>
          </a:p>
          <a:p>
            <a:r>
              <a:rPr lang="en-US" b="1" dirty="0"/>
              <a:t>Crucial Note:</a:t>
            </a:r>
            <a:r>
              <a:rPr lang="en-US" dirty="0"/>
              <a:t> The model </a:t>
            </a:r>
            <a:r>
              <a:rPr lang="en-US" b="1" dirty="0"/>
              <a:t>does not</a:t>
            </a:r>
            <a:r>
              <a:rPr lang="en-US" dirty="0"/>
              <a:t> "cheat" by looking at what happens later (like construction delays or legal fights). It only uses the snapshot of information available on the very first day the claim is reported.</a:t>
            </a:r>
          </a:p>
          <a:p>
            <a:r>
              <a:rPr lang="en-US" b="1" dirty="0"/>
              <a:t>2. Calculating the Potential Savings (Value of Information)</a:t>
            </a:r>
          </a:p>
          <a:p>
            <a:r>
              <a:rPr lang="en-US" dirty="0"/>
              <a:t>To understand the business value, we combine the </a:t>
            </a:r>
            <a:r>
              <a:rPr lang="en-US" b="1" dirty="0"/>
              <a:t>Radar (Prediction)</a:t>
            </a:r>
            <a:r>
              <a:rPr lang="en-US" dirty="0"/>
              <a:t> with the </a:t>
            </a:r>
            <a:r>
              <a:rPr lang="en-US" b="1" dirty="0"/>
              <a:t>Wasted Cost (Actual History)</a:t>
            </a:r>
            <a:r>
              <a:rPr lang="en-US" dirty="0"/>
              <a:t>.</a:t>
            </a:r>
          </a:p>
          <a:p>
            <a:r>
              <a:rPr lang="en-US" b="1" dirty="0"/>
              <a:t>Step 1: The Selection (Using the Radar)</a:t>
            </a:r>
            <a:r>
              <a:rPr lang="en-US" dirty="0"/>
              <a:t> We simulate what would happen if we blindly trusted the "Day 1 Radar." We take the top 20% of claims that the model flagged as "High Risk" immediately upon arrival.</a:t>
            </a:r>
          </a:p>
          <a:p>
            <a:r>
              <a:rPr lang="en-US" b="1" dirty="0"/>
              <a:t>Step 2: The Valuation (Counting the Waste)</a:t>
            </a:r>
            <a:r>
              <a:rPr lang="en-US" dirty="0"/>
              <a:t> For those specific flagged claims, we look at what </a:t>
            </a:r>
            <a:r>
              <a:rPr lang="en-US" i="1" dirty="0"/>
              <a:t>actually</a:t>
            </a:r>
            <a:r>
              <a:rPr lang="en-US" dirty="0"/>
              <a:t> happened in the real world. We calculate the "Sunk Cost"—the money spent on years of "wait-and-see" maintenance before the decision was finally made to auction the site.</a:t>
            </a:r>
          </a:p>
          <a:p>
            <a:r>
              <a:rPr lang="en-US" b="1" dirty="0"/>
              <a:t>Step 3: The Bottom Line</a:t>
            </a:r>
            <a:r>
              <a:rPr lang="en-US" dirty="0"/>
              <a:t> The "Value of Information" is simply the sum of that "wait-and-see" money. It tells us: </a:t>
            </a:r>
            <a:r>
              <a:rPr lang="en-US" i="1" dirty="0"/>
              <a:t>"If we had trusted the Day 1 Radar and moved these specific cases to auction immediately, this is the amount of money we would not have spent."</a:t>
            </a:r>
            <a:endParaRPr lang="en-US" dirty="0"/>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33</a:t>
            </a:fld>
            <a:endParaRPr lang="en-US" dirty="0"/>
          </a:p>
        </p:txBody>
      </p:sp>
    </p:spTree>
    <p:extLst>
      <p:ext uri="{BB962C8B-B14F-4D97-AF65-F5344CB8AC3E}">
        <p14:creationId xmlns:p14="http://schemas.microsoft.com/office/powerpoint/2010/main" val="1397017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33: Risk Score Distribution (The "Lens" Comparison)</a:t>
            </a:r>
          </a:p>
          <a:p>
            <a:r>
              <a:rPr lang="en-US" b="1" dirty="0"/>
              <a:t>Visual Orientation:</a:t>
            </a:r>
            <a:r>
              <a:rPr lang="en-US" dirty="0"/>
              <a:t> "This density plot shows how two different 'lenses' view the same group of claims. The horizontal axis is the predicted risk level." </a:t>
            </a:r>
          </a:p>
          <a:p>
            <a:endParaRPr lang="en-US" dirty="0"/>
          </a:p>
          <a:p>
            <a:r>
              <a:rPr lang="en-US" b="1" dirty="0"/>
              <a:t>The Takeaway:</a:t>
            </a:r>
            <a:r>
              <a:rPr lang="en-US" dirty="0"/>
              <a:t> Machine Learning (ML) gives us a much sharper, more confident way to identify risky claims before they become expensive. </a:t>
            </a:r>
          </a:p>
          <a:p>
            <a:endParaRPr lang="en-US" dirty="0"/>
          </a:p>
          <a:p>
            <a:r>
              <a:rPr lang="en-US" b="1" dirty="0"/>
              <a:t>Talking Points:</a:t>
            </a:r>
            <a:endParaRPr lang="en-US" dirty="0"/>
          </a:p>
          <a:p>
            <a:pPr lvl="1"/>
            <a:r>
              <a:rPr lang="en-US" b="1" dirty="0"/>
              <a:t>Human Checklist (Red/Left):</a:t>
            </a:r>
            <a:r>
              <a:rPr lang="en-US" dirty="0"/>
              <a:t> Notice how the 'hill' is wide and flat. This means our current checklists see most claims as 'medium risk.' It’s hard to tell the difference between a routine site and a disaster. </a:t>
            </a:r>
          </a:p>
          <a:p>
            <a:pPr lvl="1"/>
            <a:endParaRPr lang="en-US" dirty="0"/>
          </a:p>
          <a:p>
            <a:pPr lvl="1"/>
            <a:r>
              <a:rPr lang="en-US" b="1" dirty="0"/>
              <a:t>ML Data-Driven (Blue/Right):</a:t>
            </a:r>
            <a:r>
              <a:rPr lang="en-US" dirty="0"/>
              <a:t> Notice the sharp, tall peak. The algorithm is much more decisive. It can filter out the 'noise' and pinpoint exactly which claims have high-severity characteristics. </a:t>
            </a:r>
          </a:p>
          <a:p>
            <a:pPr lvl="1"/>
            <a:endParaRPr lang="en-US" dirty="0"/>
          </a:p>
          <a:p>
            <a:pPr lvl="1"/>
            <a:r>
              <a:rPr lang="en-US" b="1" dirty="0"/>
              <a:t>The Strategic Advantage:</a:t>
            </a:r>
            <a:r>
              <a:rPr lang="en-US" dirty="0"/>
              <a:t> Using the Blue model at intake would allow us to prioritize high-risk sites for expert review on Day 1</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34</a:t>
            </a:fld>
            <a:endParaRPr lang="en-US" dirty="0"/>
          </a:p>
        </p:txBody>
      </p:sp>
    </p:spTree>
    <p:extLst>
      <p:ext uri="{BB962C8B-B14F-4D97-AF65-F5344CB8AC3E}">
        <p14:creationId xmlns:p14="http://schemas.microsoft.com/office/powerpoint/2010/main" val="39926047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Model Performance (How well does it work?)</a:t>
            </a:r>
            <a:r>
              <a:rPr lang="en-US" dirty="0"/>
              <a:t> "The model acts as a triage filter, not a crystal ball. When the AI flags a claim as 'High Risk,' it effectively identifies a future auction case </a:t>
            </a:r>
            <a:r>
              <a:rPr lang="en-US" b="1" dirty="0"/>
              <a:t>40% of the time</a:t>
            </a:r>
            <a:r>
              <a:rPr lang="en-US" dirty="0"/>
              <a:t> (25 actual auctions out of 63 flagged). While not perfect, this allows the team to focus expedited review resources on a smaller, higher-probability pool of claims rather than reviewing the entire portfolio at random."</a:t>
            </a:r>
          </a:p>
          <a:p>
            <a:r>
              <a:rPr lang="en-US" b="1" dirty="0"/>
              <a:t>2. Severity Thresholds (What counts as 'High Risk'?)</a:t>
            </a:r>
            <a:r>
              <a:rPr lang="en-US" dirty="0"/>
              <a:t> "This analysis defines 'Severe' strictly as the worst-case outliers—specifically the top 10% of the portfolio. To trigger a high-severity flag, a claim must exceed </a:t>
            </a:r>
            <a:r>
              <a:rPr lang="en-US" b="1" dirty="0"/>
              <a:t>$1.1 million in total cleanup costs</a:t>
            </a:r>
            <a:r>
              <a:rPr lang="en-US" dirty="0"/>
              <a:t> or remain open for longer than </a:t>
            </a:r>
            <a:r>
              <a:rPr lang="en-US" b="1" dirty="0"/>
              <a:t>13.8 years</a:t>
            </a:r>
            <a:r>
              <a:rPr lang="en-US" dirty="0"/>
              <a:t>. These are the 'bleeder' cases that disproportionately drain the fund."</a:t>
            </a:r>
          </a:p>
          <a:p>
            <a:r>
              <a:rPr lang="en-US" b="1" dirty="0"/>
              <a:t>3. Value of Information (What is the business case?)</a:t>
            </a:r>
            <a:r>
              <a:rPr lang="en-US" dirty="0"/>
              <a:t> "The </a:t>
            </a:r>
            <a:r>
              <a:rPr lang="en-US" b="1" dirty="0"/>
              <a:t>$21.6 million</a:t>
            </a:r>
            <a:r>
              <a:rPr lang="en-US" dirty="0"/>
              <a:t> figure represents the 'Sunk Cost'—money spent on these 25 flagged claims </a:t>
            </a:r>
            <a:r>
              <a:rPr lang="en-US" i="1" dirty="0"/>
              <a:t>before</a:t>
            </a:r>
            <a:r>
              <a:rPr lang="en-US" dirty="0"/>
              <a:t> they were finally sent to auction. This is the theoretical upper limit of savings. If the Early Warning System had caught these cases at Day 1, and we had moved them to auction immediately, this is the maximum amount of 'wait-and-see' spending that could have been avoided."</a:t>
            </a:r>
          </a:p>
          <a:p>
            <a:br>
              <a:rPr lang="en-US" dirty="0"/>
            </a:br>
            <a:r>
              <a:rPr lang="en-US" b="1" dirty="0"/>
              <a:t>The Headline Figure:</a:t>
            </a:r>
            <a:r>
              <a:rPr lang="en-US" dirty="0"/>
              <a:t> If we used this model to flag the Top 20% of risky claims early, we would have targeted 25 actual auction cases and potentially recovered up to </a:t>
            </a:r>
            <a:r>
              <a:rPr lang="en-US" b="1" dirty="0"/>
              <a:t>$21.5 Million</a:t>
            </a:r>
            <a:r>
              <a:rPr lang="en-US" dirty="0"/>
              <a:t> in 'Sunk Costs' (money spent before the auction fix was applied). </a:t>
            </a:r>
          </a:p>
          <a:p>
            <a:r>
              <a:rPr lang="en-US" b="1" dirty="0"/>
              <a:t>Interpretation:</a:t>
            </a:r>
            <a:r>
              <a:rPr lang="en-US" dirty="0"/>
              <a:t> While $21.5M is an upper bound, even capturing 25% of that through earlier auctions would represent a massive win for the Fund.</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35</a:t>
            </a:fld>
            <a:endParaRPr lang="en-US" dirty="0"/>
          </a:p>
        </p:txBody>
      </p:sp>
    </p:spTree>
    <p:extLst>
      <p:ext uri="{BB962C8B-B14F-4D97-AF65-F5344CB8AC3E}">
        <p14:creationId xmlns:p14="http://schemas.microsoft.com/office/powerpoint/2010/main" val="816354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Adjuster Tracking:</a:t>
            </a:r>
            <a:r>
              <a:rPr lang="en-US" dirty="0"/>
              <a:t> We need to know which adjusters are assigned to every claim. This plus the guiding rules on when a claim triggers auction consideration allows for more advanced</a:t>
            </a:r>
            <a:br>
              <a:rPr lang="en-US" dirty="0"/>
            </a:br>
            <a:r>
              <a:rPr lang="en-US" dirty="0"/>
              <a:t>policy-evaluation techniques that let us estimate the returns to competitive bidding processes.</a:t>
            </a:r>
            <a:br>
              <a:rPr lang="en-US" dirty="0"/>
            </a:br>
            <a:r>
              <a:rPr lang="en-US" b="1" dirty="0"/>
              <a:t>Cash Flow Data:</a:t>
            </a:r>
            <a:r>
              <a:rPr lang="en-US" dirty="0"/>
              <a:t> Instead of just seeing the 'Total Bill' at the end, we need to see the month-by-month spending. This helps us see exactly when a project 'stalls' and costs start spiraling. </a:t>
            </a:r>
          </a:p>
          <a:p>
            <a:r>
              <a:rPr lang="en-US" b="1" dirty="0"/>
              <a:t>Auction Transparency:</a:t>
            </a:r>
            <a:r>
              <a:rPr lang="en-US" dirty="0"/>
              <a:t> We need the full bid lists, not just the winner. This tells us if the market is truly competitive or if only one vendor is bidding on certain types of work. </a:t>
            </a:r>
            <a:br>
              <a:rPr lang="en-US" dirty="0"/>
            </a:br>
            <a:r>
              <a:rPr lang="en-US" dirty="0"/>
              <a:t>To a big degree the bids and who the bidders are is where the power of auction data lies. Deep market understanding exists in those data.</a:t>
            </a:r>
          </a:p>
          <a:p>
            <a:endParaRPr lang="en-US" dirty="0"/>
          </a:p>
        </p:txBody>
      </p:sp>
      <p:sp>
        <p:nvSpPr>
          <p:cNvPr id="4" name="Slide Number Placeholder 3"/>
          <p:cNvSpPr>
            <a:spLocks noGrp="1"/>
          </p:cNvSpPr>
          <p:nvPr>
            <p:ph type="sldNum" sz="quarter" idx="5"/>
          </p:nvPr>
        </p:nvSpPr>
        <p:spPr/>
        <p:txBody>
          <a:bodyPr/>
          <a:lstStyle/>
          <a:p>
            <a:fld id="{1D06B66C-E0D9-4E12-9023-C99C46D6E7F8}" type="slidenum">
              <a:rPr lang="en-US" smtClean="0"/>
              <a:t>36</a:t>
            </a:fld>
            <a:endParaRPr lang="en-US" dirty="0"/>
          </a:p>
        </p:txBody>
      </p:sp>
    </p:spTree>
    <p:extLst>
      <p:ext uri="{BB962C8B-B14F-4D97-AF65-F5344CB8AC3E}">
        <p14:creationId xmlns:p14="http://schemas.microsoft.com/office/powerpoint/2010/main" val="2373445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0A113-A3F1-5198-7C91-06EE8564A1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FE169F-4F0D-0FBC-D4BC-6E44D02741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26435B-CBA8-2252-012B-134CED341305}"/>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5" name="Footer Placeholder 4">
            <a:extLst>
              <a:ext uri="{FF2B5EF4-FFF2-40B4-BE49-F238E27FC236}">
                <a16:creationId xmlns:a16="http://schemas.microsoft.com/office/drawing/2014/main" id="{1AA10781-8209-0A07-ECE3-A02AE9959FE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42275D9-F187-E267-8B69-0D8F64720693}"/>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3472491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4063-47D8-8282-21F3-BB13CD6912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CE8AF8-8C87-43AC-6874-907E257665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987789-4ED1-9FCC-0F24-EF74693589AE}"/>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5" name="Footer Placeholder 4">
            <a:extLst>
              <a:ext uri="{FF2B5EF4-FFF2-40B4-BE49-F238E27FC236}">
                <a16:creationId xmlns:a16="http://schemas.microsoft.com/office/drawing/2014/main" id="{0EF32B8E-6FC1-EF2E-B0E7-FD627C4BB9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669BDD9-C82E-10B1-E8F8-E14EE67BCDE8}"/>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4023751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F356E-6677-18F2-B863-1D929C1652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282F8E-3FEB-7394-77EC-5AC2667116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A7EBD0-5F7F-E2A1-B599-82007BDCF6B2}"/>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5" name="Footer Placeholder 4">
            <a:extLst>
              <a:ext uri="{FF2B5EF4-FFF2-40B4-BE49-F238E27FC236}">
                <a16:creationId xmlns:a16="http://schemas.microsoft.com/office/drawing/2014/main" id="{C567A18A-C8C6-3FA1-C8A5-718ADAB5998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AD95C7D-C25E-5ACC-B40E-F1946E6BD18F}"/>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11775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16ED-2668-189F-82EE-3CEC27881B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F91EDE-D91D-7C6D-42CF-51A7F2B27F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9D41DC-5E0E-41CB-45F6-934F15F0C2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4172A5-5A05-28CC-7B30-5DF7E58CAAF0}"/>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6" name="Footer Placeholder 5">
            <a:extLst>
              <a:ext uri="{FF2B5EF4-FFF2-40B4-BE49-F238E27FC236}">
                <a16:creationId xmlns:a16="http://schemas.microsoft.com/office/drawing/2014/main" id="{1D89CCB9-F7D9-E0DB-57E3-631D98B444E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B00011-60D9-8E1F-DBC8-0B699DB0C528}"/>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3683308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66E6-1A69-F98F-F9A1-4329FBC207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183F60-7150-BF62-145A-38EDE55BC9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57C81A-ECE2-147B-6801-5D8E1396C9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6187A9-C94D-FE17-EEEB-3720AA9714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1DEAC9-0726-559C-6EDA-C323FDEA42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21D042-6492-86D0-20AC-1298F4629876}"/>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8" name="Footer Placeholder 7">
            <a:extLst>
              <a:ext uri="{FF2B5EF4-FFF2-40B4-BE49-F238E27FC236}">
                <a16:creationId xmlns:a16="http://schemas.microsoft.com/office/drawing/2014/main" id="{A5114971-BB86-0C51-E3FF-C7B80CB845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7FB932D-F6F2-44AA-7B74-9A017D3A2FD8}"/>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2045148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6831-447B-3BED-9BCB-65028FC85F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162E5B-2354-93DE-7D12-C4F1A028C217}"/>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4" name="Footer Placeholder 3">
            <a:extLst>
              <a:ext uri="{FF2B5EF4-FFF2-40B4-BE49-F238E27FC236}">
                <a16:creationId xmlns:a16="http://schemas.microsoft.com/office/drawing/2014/main" id="{3C91B371-EEA5-CF0B-21C8-D7AC5AE5FFB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5B2A5F4-96D1-E8C0-75B1-72B2E35B0DEC}"/>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2145642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6BC657-21AB-3758-0D0A-5D77FB7EA725}"/>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3" name="Footer Placeholder 2">
            <a:extLst>
              <a:ext uri="{FF2B5EF4-FFF2-40B4-BE49-F238E27FC236}">
                <a16:creationId xmlns:a16="http://schemas.microsoft.com/office/drawing/2014/main" id="{76C667A9-69E6-47BA-B0BA-6C8862DA043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C1E5603-236C-9AD5-4A9A-C911B073C21A}"/>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3632685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70FF6-AECC-B304-93AF-569DB852D4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0AF94D-3D1C-FD53-0ACE-14E57BB2CE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7FEE38-B631-5CCB-9132-E6C608F553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47BD0E-95A3-606D-8DE6-C06319EA545A}"/>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6" name="Footer Placeholder 5">
            <a:extLst>
              <a:ext uri="{FF2B5EF4-FFF2-40B4-BE49-F238E27FC236}">
                <a16:creationId xmlns:a16="http://schemas.microsoft.com/office/drawing/2014/main" id="{305A4499-769C-2E4C-9A99-E510CFBDD1C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BB9196-8D25-EBDC-D237-EA315D4763F9}"/>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1932426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B24C3-DED5-6F2E-4524-91E3A3C7F5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A4F025-2F51-42C9-6676-26A796A539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E091274-D3AB-6C00-2A99-26283FE01E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43D82A-ED96-C93C-34DC-3F4CA35092B1}"/>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6" name="Footer Placeholder 5">
            <a:extLst>
              <a:ext uri="{FF2B5EF4-FFF2-40B4-BE49-F238E27FC236}">
                <a16:creationId xmlns:a16="http://schemas.microsoft.com/office/drawing/2014/main" id="{6ECD9494-6A87-E057-8934-417D40CE4BC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A7B328-6F4A-24A7-E562-643DF1B39DC9}"/>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2384356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8FE1-41DD-DE24-08C8-2DA97E9EB9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A73193-2C36-5D81-7EA4-270F8AA91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B25A63-8523-C86B-57C6-DF1C54F024ED}"/>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5" name="Footer Placeholder 4">
            <a:extLst>
              <a:ext uri="{FF2B5EF4-FFF2-40B4-BE49-F238E27FC236}">
                <a16:creationId xmlns:a16="http://schemas.microsoft.com/office/drawing/2014/main" id="{2DBFEC82-DA36-4260-C19B-08A636A49F6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C6C741A-B7E0-1B11-C8C0-983F055FFF5F}"/>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1278087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E470DD-B632-8470-5BDC-21E2751634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1BC88A-C6C9-7D19-1F31-518B56505C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810B5-F32C-3B5C-8A34-21C656C5E8A5}"/>
              </a:ext>
            </a:extLst>
          </p:cNvPr>
          <p:cNvSpPr>
            <a:spLocks noGrp="1"/>
          </p:cNvSpPr>
          <p:nvPr>
            <p:ph type="dt" sz="half" idx="10"/>
          </p:nvPr>
        </p:nvSpPr>
        <p:spPr/>
        <p:txBody>
          <a:bodyPr/>
          <a:lstStyle/>
          <a:p>
            <a:fld id="{FEB2A4D4-C167-4272-B0A7-3A79F8173F7E}" type="datetimeFigureOut">
              <a:rPr lang="en-US" smtClean="0"/>
              <a:t>1/16/2026</a:t>
            </a:fld>
            <a:endParaRPr lang="en-US" dirty="0"/>
          </a:p>
        </p:txBody>
      </p:sp>
      <p:sp>
        <p:nvSpPr>
          <p:cNvPr id="5" name="Footer Placeholder 4">
            <a:extLst>
              <a:ext uri="{FF2B5EF4-FFF2-40B4-BE49-F238E27FC236}">
                <a16:creationId xmlns:a16="http://schemas.microsoft.com/office/drawing/2014/main" id="{B9CF1246-58D6-44A3-71A4-99E490D4B15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075841-DB4C-C9A5-482C-427B6DB39E1F}"/>
              </a:ext>
            </a:extLst>
          </p:cNvPr>
          <p:cNvSpPr>
            <a:spLocks noGrp="1"/>
          </p:cNvSpPr>
          <p:nvPr>
            <p:ph type="sldNum" sz="quarter" idx="12"/>
          </p:nvPr>
        </p:nvSpPr>
        <p:spPr/>
        <p:txBody>
          <a:bodyPr/>
          <a:lstStyle/>
          <a:p>
            <a:fld id="{926CC331-F3D9-4CB7-BCE9-C995DF6FCCF1}" type="slidenum">
              <a:rPr lang="en-US" smtClean="0"/>
              <a:t>‹#›</a:t>
            </a:fld>
            <a:endParaRPr lang="en-US" dirty="0"/>
          </a:p>
        </p:txBody>
      </p:sp>
    </p:spTree>
    <p:extLst>
      <p:ext uri="{BB962C8B-B14F-4D97-AF65-F5344CB8AC3E}">
        <p14:creationId xmlns:p14="http://schemas.microsoft.com/office/powerpoint/2010/main" val="1380653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E49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5C2EAE-D9B2-5A63-C50F-07EE2061D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44288A-B209-F59A-79ED-47BEDFDB36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488BF1-F45B-0F53-B926-F86C01C6FE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B2A4D4-C167-4272-B0A7-3A79F8173F7E}" type="datetimeFigureOut">
              <a:rPr lang="en-US" smtClean="0"/>
              <a:t>1/16/2026</a:t>
            </a:fld>
            <a:endParaRPr lang="en-US" dirty="0"/>
          </a:p>
        </p:txBody>
      </p:sp>
      <p:sp>
        <p:nvSpPr>
          <p:cNvPr id="5" name="Footer Placeholder 4">
            <a:extLst>
              <a:ext uri="{FF2B5EF4-FFF2-40B4-BE49-F238E27FC236}">
                <a16:creationId xmlns:a16="http://schemas.microsoft.com/office/drawing/2014/main" id="{47B63B68-ED3B-2BB4-4EC3-C96F8D0844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00B7BCA5-20DC-6CC5-B33E-19B3A0466E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6CC331-F3D9-4CB7-BCE9-C995DF6FCCF1}" type="slidenum">
              <a:rPr lang="en-US" smtClean="0"/>
              <a:t>‹#›</a:t>
            </a:fld>
            <a:endParaRPr lang="en-US" dirty="0"/>
          </a:p>
        </p:txBody>
      </p:sp>
    </p:spTree>
    <p:extLst>
      <p:ext uri="{BB962C8B-B14F-4D97-AF65-F5344CB8AC3E}">
        <p14:creationId xmlns:p14="http://schemas.microsoft.com/office/powerpoint/2010/main" val="1888779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DEA8A-589D-6936-B711-93666E88DF9F}"/>
              </a:ext>
            </a:extLst>
          </p:cNvPr>
          <p:cNvSpPr>
            <a:spLocks noGrp="1"/>
          </p:cNvSpPr>
          <p:nvPr>
            <p:ph type="ctrTitle"/>
          </p:nvPr>
        </p:nvSpPr>
        <p:spPr/>
        <p:txBody>
          <a:bodyPr>
            <a:normAutofit fontScale="90000"/>
          </a:bodyPr>
          <a:lstStyle/>
          <a:p>
            <a:r>
              <a:rPr lang="en-US" dirty="0"/>
              <a:t>PA USTIF </a:t>
            </a:r>
            <a:br>
              <a:rPr lang="en-US" dirty="0"/>
            </a:br>
            <a:r>
              <a:rPr lang="en-US" dirty="0"/>
              <a:t>Competitive Bidding Research Update</a:t>
            </a:r>
          </a:p>
        </p:txBody>
      </p:sp>
      <p:sp>
        <p:nvSpPr>
          <p:cNvPr id="3" name="Subtitle 2">
            <a:extLst>
              <a:ext uri="{FF2B5EF4-FFF2-40B4-BE49-F238E27FC236}">
                <a16:creationId xmlns:a16="http://schemas.microsoft.com/office/drawing/2014/main" id="{89F5B76E-2FFD-8EB9-C05D-98BEF6F4C6DB}"/>
              </a:ext>
            </a:extLst>
          </p:cNvPr>
          <p:cNvSpPr>
            <a:spLocks noGrp="1"/>
          </p:cNvSpPr>
          <p:nvPr>
            <p:ph type="subTitle" idx="1"/>
          </p:nvPr>
        </p:nvSpPr>
        <p:spPr/>
        <p:txBody>
          <a:bodyPr>
            <a:normAutofit/>
          </a:bodyPr>
          <a:lstStyle/>
          <a:p>
            <a:r>
              <a:rPr lang="en-US" dirty="0"/>
              <a:t>Kaleb Javier</a:t>
            </a:r>
            <a:br>
              <a:rPr lang="en-US" dirty="0"/>
            </a:br>
            <a:r>
              <a:rPr lang="en-US" sz="1600" dirty="0"/>
              <a:t>(https://www.kalebkjavier.com/)</a:t>
            </a:r>
            <a:endParaRPr lang="en-US" dirty="0"/>
          </a:p>
          <a:p>
            <a:r>
              <a:rPr lang="en-US" dirty="0"/>
              <a:t>UC Berkeley </a:t>
            </a:r>
          </a:p>
          <a:p>
            <a:r>
              <a:rPr lang="en-US" dirty="0"/>
              <a:t>January 16, 2026</a:t>
            </a:r>
          </a:p>
        </p:txBody>
      </p:sp>
    </p:spTree>
    <p:extLst>
      <p:ext uri="{BB962C8B-B14F-4D97-AF65-F5344CB8AC3E}">
        <p14:creationId xmlns:p14="http://schemas.microsoft.com/office/powerpoint/2010/main" val="345636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6E6642-3878-1F52-6825-02F5CC92D856}"/>
              </a:ext>
            </a:extLst>
          </p:cNvPr>
          <p:cNvSpPr>
            <a:spLocks noGrp="1"/>
          </p:cNvSpPr>
          <p:nvPr>
            <p:ph idx="1"/>
          </p:nvPr>
        </p:nvSpPr>
        <p:spPr>
          <a:xfrm>
            <a:off x="214604" y="214604"/>
            <a:ext cx="11737910" cy="6578082"/>
          </a:xfrm>
        </p:spPr>
        <p:txBody>
          <a:bodyPr>
            <a:normAutofit/>
          </a:bodyPr>
          <a:lstStyle/>
          <a:p>
            <a:pPr marL="0" indent="0">
              <a:buNone/>
            </a:pPr>
            <a:r>
              <a:rPr lang="en-US" sz="3200" dirty="0"/>
              <a:t>Today</a:t>
            </a:r>
          </a:p>
          <a:p>
            <a:pPr marL="0" indent="0">
              <a:buNone/>
            </a:pPr>
            <a:endParaRPr lang="en-US" sz="3200" dirty="0"/>
          </a:p>
          <a:p>
            <a:pPr marL="0" indent="0">
              <a:buNone/>
            </a:pPr>
            <a:r>
              <a:rPr lang="en-US" sz="3200" dirty="0"/>
              <a:t>Current Analysis Results</a:t>
            </a:r>
          </a:p>
          <a:p>
            <a:pPr marL="914400" lvl="1" indent="-457200">
              <a:buFont typeface="+mj-lt"/>
              <a:buAutoNum type="alphaLcParenR"/>
            </a:pPr>
            <a:r>
              <a:rPr lang="en-US" sz="2800" dirty="0"/>
              <a:t>	 Claim Denials</a:t>
            </a:r>
          </a:p>
          <a:p>
            <a:pPr marL="914400" lvl="1" indent="-457200">
              <a:buFont typeface="+mj-lt"/>
              <a:buAutoNum type="alphaLcParenR"/>
            </a:pPr>
            <a:r>
              <a:rPr lang="en-US" sz="2800" dirty="0"/>
              <a:t>	 Closed Claims (Costs and Durations)	</a:t>
            </a:r>
          </a:p>
          <a:p>
            <a:pPr marL="914400" lvl="1" indent="-457200">
              <a:buFont typeface="+mj-lt"/>
              <a:buAutoNum type="alphaLcParenR"/>
            </a:pPr>
            <a:r>
              <a:rPr lang="en-US" sz="2800" dirty="0"/>
              <a:t>	 Describe the state of Competitive Bidding </a:t>
            </a:r>
          </a:p>
          <a:p>
            <a:pPr marL="1428750" lvl="2" indent="-514350">
              <a:buFont typeface="+mj-lt"/>
              <a:buAutoNum type="romanLcPeriod"/>
            </a:pPr>
            <a:r>
              <a:rPr lang="en-US" sz="2400" dirty="0"/>
              <a:t>How does a claim end up in a Competitive Bidding contract?</a:t>
            </a:r>
          </a:p>
          <a:p>
            <a:pPr marL="0" indent="0">
              <a:buNone/>
            </a:pPr>
            <a:endParaRPr lang="en-US" sz="3200" dirty="0"/>
          </a:p>
          <a:p>
            <a:pPr marL="0" indent="0">
              <a:buNone/>
            </a:pPr>
            <a:r>
              <a:rPr lang="en-US" sz="3200" dirty="0"/>
              <a:t>Highlight Extensions</a:t>
            </a:r>
          </a:p>
          <a:p>
            <a:pPr marL="971550" lvl="1" indent="-514350">
              <a:buFont typeface="+mj-lt"/>
              <a:buAutoNum type="alphaLcParenR"/>
            </a:pPr>
            <a:r>
              <a:rPr lang="en-US" sz="2800" dirty="0"/>
              <a:t> What are the gains from improving the Claims </a:t>
            </a:r>
            <a:r>
              <a:rPr lang="en-US" sz="2800" dirty="0">
                <a:sym typeface="Wingdings" panose="05000000000000000000" pitchFamily="2" charset="2"/>
              </a:rPr>
              <a:t> </a:t>
            </a:r>
            <a:r>
              <a:rPr lang="en-US" sz="2800" dirty="0"/>
              <a:t> Auction system?</a:t>
            </a:r>
          </a:p>
        </p:txBody>
      </p:sp>
    </p:spTree>
    <p:extLst>
      <p:ext uri="{BB962C8B-B14F-4D97-AF65-F5344CB8AC3E}">
        <p14:creationId xmlns:p14="http://schemas.microsoft.com/office/powerpoint/2010/main" val="2555418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86FF1-1206-DB26-9E8E-4C1898CFB26F}"/>
              </a:ext>
            </a:extLst>
          </p:cNvPr>
          <p:cNvSpPr>
            <a:spLocks noGrp="1"/>
          </p:cNvSpPr>
          <p:nvPr>
            <p:ph type="title"/>
          </p:nvPr>
        </p:nvSpPr>
        <p:spPr>
          <a:xfrm>
            <a:off x="838200" y="154813"/>
            <a:ext cx="10515600" cy="1325563"/>
          </a:xfrm>
        </p:spPr>
        <p:txBody>
          <a:bodyPr/>
          <a:lstStyle/>
          <a:p>
            <a:pPr algn="ctr"/>
            <a:r>
              <a:rPr lang="en-US" dirty="0"/>
              <a:t>What is the Unit of Analysis?</a:t>
            </a:r>
          </a:p>
        </p:txBody>
      </p:sp>
      <p:sp>
        <p:nvSpPr>
          <p:cNvPr id="3" name="Content Placeholder 2">
            <a:extLst>
              <a:ext uri="{FF2B5EF4-FFF2-40B4-BE49-F238E27FC236}">
                <a16:creationId xmlns:a16="http://schemas.microsoft.com/office/drawing/2014/main" id="{DAD6466A-29CD-C52F-4D76-9D1F9D59B833}"/>
              </a:ext>
            </a:extLst>
          </p:cNvPr>
          <p:cNvSpPr>
            <a:spLocks noGrp="1"/>
          </p:cNvSpPr>
          <p:nvPr>
            <p:ph idx="1"/>
          </p:nvPr>
        </p:nvSpPr>
        <p:spPr>
          <a:xfrm>
            <a:off x="252919" y="1361872"/>
            <a:ext cx="11809379" cy="5252937"/>
          </a:xfrm>
        </p:spPr>
        <p:txBody>
          <a:bodyPr/>
          <a:lstStyle/>
          <a:p>
            <a:pPr marL="0" indent="0">
              <a:buNone/>
            </a:pPr>
            <a:r>
              <a:rPr lang="en-US" sz="3200" b="1" dirty="0"/>
              <a:t>Facility-Claims</a:t>
            </a:r>
          </a:p>
          <a:p>
            <a:pPr marL="0" indent="0">
              <a:buNone/>
            </a:pPr>
            <a:endParaRPr lang="en-US" sz="3200" b="1" dirty="0"/>
          </a:p>
          <a:p>
            <a:pPr marL="0" indent="0">
              <a:buNone/>
            </a:pPr>
            <a:r>
              <a:rPr lang="en-US" sz="3200" dirty="0"/>
              <a:t>A facility-claim is built from</a:t>
            </a:r>
          </a:p>
          <a:p>
            <a:pPr lvl="1"/>
            <a:r>
              <a:rPr lang="en-US" sz="2800" dirty="0"/>
              <a:t>PA DEPs UST Public and Private UST databases (Thank you Josh Blanco!)</a:t>
            </a:r>
          </a:p>
          <a:p>
            <a:pPr lvl="2"/>
            <a:r>
              <a:rPr lang="en-US" sz="2400" dirty="0"/>
              <a:t>All Tank component for all facilities in PA</a:t>
            </a:r>
          </a:p>
          <a:p>
            <a:pPr lvl="1"/>
            <a:r>
              <a:rPr lang="en-US" sz="2800" dirty="0"/>
              <a:t>USTIF Claims (contracts and claims) datasets</a:t>
            </a:r>
          </a:p>
          <a:p>
            <a:pPr lvl="1"/>
            <a:r>
              <a:rPr lang="en-US" sz="2800" b="1" dirty="0" err="1">
                <a:solidFill>
                  <a:schemeClr val="bg2">
                    <a:lumMod val="50000"/>
                  </a:schemeClr>
                </a:solidFill>
              </a:rPr>
              <a:t>eFacts</a:t>
            </a:r>
            <a:r>
              <a:rPr lang="en-US" sz="2800" b="1" dirty="0">
                <a:solidFill>
                  <a:schemeClr val="bg2">
                    <a:lumMod val="50000"/>
                  </a:schemeClr>
                </a:solidFill>
              </a:rPr>
              <a:t> Violations database</a:t>
            </a:r>
            <a:endParaRPr lang="en-US" sz="2800" strike="sngStrike" dirty="0">
              <a:solidFill>
                <a:schemeClr val="bg2">
                  <a:lumMod val="50000"/>
                </a:schemeClr>
              </a:solidFill>
            </a:endParaRPr>
          </a:p>
          <a:p>
            <a:pPr marL="0" indent="0">
              <a:buNone/>
            </a:pPr>
            <a:r>
              <a:rPr lang="en-US" dirty="0"/>
              <a:t>A facility claims portfolio is built from all UST info at a site </a:t>
            </a:r>
            <a:r>
              <a:rPr lang="en-US" b="1" dirty="0"/>
              <a:t>on or before </a:t>
            </a:r>
            <a:r>
              <a:rPr lang="en-US" dirty="0" err="1"/>
              <a:t>report_date</a:t>
            </a:r>
            <a:r>
              <a:rPr lang="en-US" dirty="0"/>
              <a:t> in the claims data.</a:t>
            </a:r>
          </a:p>
        </p:txBody>
      </p:sp>
    </p:spTree>
    <p:extLst>
      <p:ext uri="{BB962C8B-B14F-4D97-AF65-F5344CB8AC3E}">
        <p14:creationId xmlns:p14="http://schemas.microsoft.com/office/powerpoint/2010/main" val="4108803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BE635-691D-ADE2-6819-4F91DD73E438}"/>
              </a:ext>
            </a:extLst>
          </p:cNvPr>
          <p:cNvSpPr>
            <a:spLocks noGrp="1"/>
          </p:cNvSpPr>
          <p:nvPr>
            <p:ph type="title"/>
          </p:nvPr>
        </p:nvSpPr>
        <p:spPr>
          <a:xfrm>
            <a:off x="393192" y="237744"/>
            <a:ext cx="11622024" cy="1472183"/>
          </a:xfrm>
        </p:spPr>
        <p:txBody>
          <a:bodyPr/>
          <a:lstStyle/>
          <a:p>
            <a:pPr algn="ctr"/>
            <a:r>
              <a:rPr lang="en-US" b="1" dirty="0"/>
              <a:t>Comparing Risk Detection Methods</a:t>
            </a:r>
            <a:endParaRPr lang="en-US" dirty="0"/>
          </a:p>
        </p:txBody>
      </p:sp>
      <p:sp>
        <p:nvSpPr>
          <p:cNvPr id="3" name="Content Placeholder 2">
            <a:extLst>
              <a:ext uri="{FF2B5EF4-FFF2-40B4-BE49-F238E27FC236}">
                <a16:creationId xmlns:a16="http://schemas.microsoft.com/office/drawing/2014/main" id="{12D502A8-2DEE-9D59-05C1-825B30B781D6}"/>
              </a:ext>
            </a:extLst>
          </p:cNvPr>
          <p:cNvSpPr>
            <a:spLocks noGrp="1"/>
          </p:cNvSpPr>
          <p:nvPr>
            <p:ph idx="1"/>
          </p:nvPr>
        </p:nvSpPr>
        <p:spPr>
          <a:xfrm>
            <a:off x="264816" y="1408176"/>
            <a:ext cx="11329776" cy="5093208"/>
          </a:xfrm>
        </p:spPr>
        <p:txBody>
          <a:bodyPr>
            <a:normAutofit/>
          </a:bodyPr>
          <a:lstStyle/>
          <a:p>
            <a:pPr marL="0" indent="0">
              <a:buNone/>
            </a:pPr>
            <a:r>
              <a:rPr lang="en-US" dirty="0"/>
              <a:t>UST Data is rich in facility descriptions ~380 variables that describe a facility at report date.</a:t>
            </a:r>
            <a:br>
              <a:rPr lang="en-US" dirty="0"/>
            </a:br>
            <a:br>
              <a:rPr lang="en-US" dirty="0"/>
            </a:br>
            <a:r>
              <a:rPr lang="en-US" dirty="0"/>
              <a:t>I approached this analysis using two sets of information:</a:t>
            </a:r>
            <a:br>
              <a:rPr lang="en-US" dirty="0"/>
            </a:br>
            <a:endParaRPr lang="en-US" dirty="0"/>
          </a:p>
          <a:p>
            <a:pPr marL="0" indent="0">
              <a:buNone/>
            </a:pPr>
            <a:r>
              <a:rPr lang="en-US" altLang="en-US" sz="2600" b="1" dirty="0">
                <a:latin typeface="Arial" panose="020B0604020202020204" pitchFamily="34" charset="0"/>
              </a:rPr>
              <a:t>Approach 1: Standard Indicators.</a:t>
            </a:r>
            <a:r>
              <a:rPr lang="en-US" altLang="en-US" sz="2600" dirty="0">
                <a:latin typeface="Arial" panose="020B0604020202020204" pitchFamily="34" charset="0"/>
              </a:rPr>
              <a:t> Based on established institutional knowledge (e.g., bare steel, tank age).</a:t>
            </a:r>
            <a:br>
              <a:rPr lang="en-US" altLang="en-US" sz="2600" dirty="0">
                <a:latin typeface="Arial" panose="020B0604020202020204" pitchFamily="34" charset="0"/>
              </a:rPr>
            </a:br>
            <a:endParaRPr lang="en-US" altLang="en-US" sz="26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600" b="1" dirty="0">
                <a:latin typeface="Arial" panose="020B0604020202020204" pitchFamily="34" charset="0"/>
              </a:rPr>
              <a:t>Approach 2: Machine Learning (ML) Data-Driven Discovery.</a:t>
            </a:r>
            <a:r>
              <a:rPr lang="en-US" altLang="en-US" sz="2600" dirty="0">
                <a:latin typeface="Arial" panose="020B0604020202020204" pitchFamily="34" charset="0"/>
              </a:rPr>
              <a:t> Using algorithms to identify non-obvious patterns across all ~380 facility variables.</a:t>
            </a:r>
            <a:endParaRPr lang="en-US" dirty="0"/>
          </a:p>
          <a:p>
            <a:pPr marL="0" indent="0">
              <a:buNone/>
            </a:pPr>
            <a:endParaRPr lang="en-US" dirty="0"/>
          </a:p>
          <a:p>
            <a:pPr marL="0" indent="0">
              <a:buNone/>
            </a:pPr>
            <a:r>
              <a:rPr lang="en-US" dirty="0"/>
              <a:t>* ML only feasible on full claims data</a:t>
            </a:r>
          </a:p>
        </p:txBody>
      </p:sp>
    </p:spTree>
    <p:extLst>
      <p:ext uri="{BB962C8B-B14F-4D97-AF65-F5344CB8AC3E}">
        <p14:creationId xmlns:p14="http://schemas.microsoft.com/office/powerpoint/2010/main" val="534732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7621C5-398D-6212-4D7A-E36793B11A2E}"/>
              </a:ext>
            </a:extLst>
          </p:cNvPr>
          <p:cNvSpPr>
            <a:spLocks noGrp="1"/>
          </p:cNvSpPr>
          <p:nvPr>
            <p:ph type="title"/>
          </p:nvPr>
        </p:nvSpPr>
        <p:spPr/>
        <p:txBody>
          <a:bodyPr anchor="ctr" anchorCtr="0"/>
          <a:lstStyle/>
          <a:p>
            <a:pPr algn="ctr"/>
            <a:r>
              <a:rPr lang="en-US" dirty="0"/>
              <a:t>Drivers of Claim Denial</a:t>
            </a:r>
          </a:p>
        </p:txBody>
      </p:sp>
      <p:sp>
        <p:nvSpPr>
          <p:cNvPr id="5" name="Text Placeholder 4">
            <a:extLst>
              <a:ext uri="{FF2B5EF4-FFF2-40B4-BE49-F238E27FC236}">
                <a16:creationId xmlns:a16="http://schemas.microsoft.com/office/drawing/2014/main" id="{8A70D95A-12A8-D07D-263C-68C51EE3907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58085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9B2B5F-70E3-C385-90A1-EDBC161BBED8}"/>
              </a:ext>
            </a:extLst>
          </p:cNvPr>
          <p:cNvPicPr>
            <a:picLocks noChangeAspect="1"/>
          </p:cNvPicPr>
          <p:nvPr/>
        </p:nvPicPr>
        <p:blipFill>
          <a:blip r:embed="rId3"/>
          <a:stretch>
            <a:fillRect/>
          </a:stretch>
        </p:blipFill>
        <p:spPr>
          <a:xfrm>
            <a:off x="1282584" y="0"/>
            <a:ext cx="9408172" cy="6858000"/>
          </a:xfrm>
          <a:prstGeom prst="rect">
            <a:avLst/>
          </a:prstGeom>
        </p:spPr>
      </p:pic>
    </p:spTree>
    <p:extLst>
      <p:ext uri="{BB962C8B-B14F-4D97-AF65-F5344CB8AC3E}">
        <p14:creationId xmlns:p14="http://schemas.microsoft.com/office/powerpoint/2010/main" val="2778466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0BBFCE-7F26-DCFD-5AE8-3D95F2983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8592" y="0"/>
            <a:ext cx="8814816" cy="6855968"/>
          </a:xfrm>
          <a:prstGeom prst="rect">
            <a:avLst/>
          </a:prstGeom>
        </p:spPr>
      </p:pic>
    </p:spTree>
    <p:extLst>
      <p:ext uri="{BB962C8B-B14F-4D97-AF65-F5344CB8AC3E}">
        <p14:creationId xmlns:p14="http://schemas.microsoft.com/office/powerpoint/2010/main" val="248307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F6B75D-E414-DE3C-DF60-475AF1AD44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688" y="51156"/>
            <a:ext cx="9448513" cy="6755688"/>
          </a:xfrm>
          <a:prstGeom prst="rect">
            <a:avLst/>
          </a:prstGeom>
        </p:spPr>
      </p:pic>
    </p:spTree>
    <p:extLst>
      <p:ext uri="{BB962C8B-B14F-4D97-AF65-F5344CB8AC3E}">
        <p14:creationId xmlns:p14="http://schemas.microsoft.com/office/powerpoint/2010/main" val="2644224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AFE58-4F55-8C16-83EC-5C445BE1D8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AD01DB4-869D-6639-E0D1-CBD8269423C5}"/>
              </a:ext>
            </a:extLst>
          </p:cNvPr>
          <p:cNvSpPr>
            <a:spLocks noGrp="1"/>
          </p:cNvSpPr>
          <p:nvPr>
            <p:ph type="title"/>
          </p:nvPr>
        </p:nvSpPr>
        <p:spPr/>
        <p:txBody>
          <a:bodyPr anchor="ctr" anchorCtr="0"/>
          <a:lstStyle/>
          <a:p>
            <a:pPr algn="ctr"/>
            <a:r>
              <a:rPr lang="en-US" dirty="0"/>
              <a:t>Drivers of Claim Cost</a:t>
            </a:r>
          </a:p>
        </p:txBody>
      </p:sp>
      <p:sp>
        <p:nvSpPr>
          <p:cNvPr id="5" name="Text Placeholder 4">
            <a:extLst>
              <a:ext uri="{FF2B5EF4-FFF2-40B4-BE49-F238E27FC236}">
                <a16:creationId xmlns:a16="http://schemas.microsoft.com/office/drawing/2014/main" id="{DFFF5551-2A7F-593D-DAFB-65F356B8AA8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28121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850CF-7416-3EFD-06C7-606BA79F13E6}"/>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37A13F35-C75C-48C4-3639-DFDDBF14BC02}"/>
              </a:ext>
            </a:extLst>
          </p:cNvPr>
          <p:cNvSpPr>
            <a:spLocks noGrp="1"/>
          </p:cNvSpPr>
          <p:nvPr>
            <p:ph type="body" idx="1"/>
          </p:nvPr>
        </p:nvSpPr>
        <p:spPr/>
        <p:txBody>
          <a:bodyPr/>
          <a:lstStyle/>
          <a:p>
            <a:endParaRPr lang="en-US" dirty="0"/>
          </a:p>
        </p:txBody>
      </p:sp>
      <p:pic>
        <p:nvPicPr>
          <p:cNvPr id="6" name="Picture 5">
            <a:extLst>
              <a:ext uri="{FF2B5EF4-FFF2-40B4-BE49-F238E27FC236}">
                <a16:creationId xmlns:a16="http://schemas.microsoft.com/office/drawing/2014/main" id="{A9EA28D1-F3B7-23AC-4458-1D565B2F87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046" y="111520"/>
            <a:ext cx="10321047" cy="6634959"/>
          </a:xfrm>
          <a:prstGeom prst="rect">
            <a:avLst/>
          </a:prstGeom>
        </p:spPr>
      </p:pic>
    </p:spTree>
    <p:extLst>
      <p:ext uri="{BB962C8B-B14F-4D97-AF65-F5344CB8AC3E}">
        <p14:creationId xmlns:p14="http://schemas.microsoft.com/office/powerpoint/2010/main" val="1302849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426429-8538-8714-7BB7-5945A8301A7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3" name="Picture 2">
            <a:extLst>
              <a:ext uri="{FF2B5EF4-FFF2-40B4-BE49-F238E27FC236}">
                <a16:creationId xmlns:a16="http://schemas.microsoft.com/office/drawing/2014/main" id="{C3EEF9AB-426A-C135-EECE-FB2FEB6D2A6B}"/>
              </a:ext>
            </a:extLst>
          </p:cNvPr>
          <p:cNvPicPr>
            <a:picLocks noChangeAspect="1"/>
          </p:cNvPicPr>
          <p:nvPr/>
        </p:nvPicPr>
        <p:blipFill>
          <a:blip r:embed="rId3"/>
          <a:srcRect l="13538" r="10448" b="1"/>
          <a:stretch>
            <a:fillRect/>
          </a:stretch>
        </p:blipFill>
        <p:spPr>
          <a:xfrm>
            <a:off x="20" y="1282"/>
            <a:ext cx="12191980" cy="6856718"/>
          </a:xfrm>
          <a:prstGeom prst="rect">
            <a:avLst/>
          </a:prstGeom>
        </p:spPr>
      </p:pic>
    </p:spTree>
    <p:extLst>
      <p:ext uri="{BB962C8B-B14F-4D97-AF65-F5344CB8AC3E}">
        <p14:creationId xmlns:p14="http://schemas.microsoft.com/office/powerpoint/2010/main" val="198566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00F19B-F364-1CC2-9EB1-CC83762AD26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864A08-3CC6-49F1-0D4D-634B34B83A87}"/>
              </a:ext>
            </a:extLst>
          </p:cNvPr>
          <p:cNvPicPr>
            <a:picLocks noChangeAspect="1"/>
          </p:cNvPicPr>
          <p:nvPr/>
        </p:nvPicPr>
        <p:blipFill>
          <a:blip r:embed="rId3">
            <a:extLst>
              <a:ext uri="{28A0092B-C50C-407E-A947-70E740481C1C}">
                <a14:useLocalDpi xmlns:a14="http://schemas.microsoft.com/office/drawing/2010/main" val="0"/>
              </a:ext>
            </a:extLst>
          </a:blip>
          <a:srcRect l="1383" r="1002" b="3572"/>
          <a:stretch>
            <a:fillRect/>
          </a:stretch>
        </p:blipFill>
        <p:spPr>
          <a:xfrm>
            <a:off x="1464564" y="0"/>
            <a:ext cx="8980294" cy="6858000"/>
          </a:xfrm>
          <a:prstGeom prst="rect">
            <a:avLst/>
          </a:prstGeom>
        </p:spPr>
      </p:pic>
    </p:spTree>
    <p:extLst>
      <p:ext uri="{BB962C8B-B14F-4D97-AF65-F5344CB8AC3E}">
        <p14:creationId xmlns:p14="http://schemas.microsoft.com/office/powerpoint/2010/main" val="2931679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139FC5-3B21-B72B-6C11-F7E3A6802AA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0ED52B-A9A0-2EA2-B06D-AD71A23507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688" y="51156"/>
            <a:ext cx="9448513" cy="6755688"/>
          </a:xfrm>
          <a:prstGeom prst="rect">
            <a:avLst/>
          </a:prstGeom>
        </p:spPr>
      </p:pic>
      <p:pic>
        <p:nvPicPr>
          <p:cNvPr id="3" name="Picture 2">
            <a:extLst>
              <a:ext uri="{FF2B5EF4-FFF2-40B4-BE49-F238E27FC236}">
                <a16:creationId xmlns:a16="http://schemas.microsoft.com/office/drawing/2014/main" id="{EBE7F459-26BD-FDCD-7742-E70091DC28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00" y="0"/>
            <a:ext cx="9601200" cy="6858000"/>
          </a:xfrm>
          <a:prstGeom prst="rect">
            <a:avLst/>
          </a:prstGeom>
        </p:spPr>
      </p:pic>
    </p:spTree>
    <p:extLst>
      <p:ext uri="{BB962C8B-B14F-4D97-AF65-F5344CB8AC3E}">
        <p14:creationId xmlns:p14="http://schemas.microsoft.com/office/powerpoint/2010/main" val="3081255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6E0DD-CE0F-06B8-908B-2CC4E82997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C55FCF-8A7C-AEDE-7215-E4842A9AE538}"/>
              </a:ext>
            </a:extLst>
          </p:cNvPr>
          <p:cNvSpPr>
            <a:spLocks noGrp="1"/>
          </p:cNvSpPr>
          <p:nvPr>
            <p:ph type="title"/>
          </p:nvPr>
        </p:nvSpPr>
        <p:spPr/>
        <p:txBody>
          <a:bodyPr anchor="ctr" anchorCtr="0"/>
          <a:lstStyle/>
          <a:p>
            <a:pPr algn="ctr"/>
            <a:r>
              <a:rPr lang="en-US" dirty="0"/>
              <a:t>Drivers of Claim Duration</a:t>
            </a:r>
          </a:p>
        </p:txBody>
      </p:sp>
      <p:sp>
        <p:nvSpPr>
          <p:cNvPr id="5" name="Text Placeholder 4">
            <a:extLst>
              <a:ext uri="{FF2B5EF4-FFF2-40B4-BE49-F238E27FC236}">
                <a16:creationId xmlns:a16="http://schemas.microsoft.com/office/drawing/2014/main" id="{3B6CD9D3-7CD1-412A-FC9F-0E97C89A5D1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5485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63D773-9217-6374-51F1-F3A8211FCA1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40DF02-A1C2-F00E-A8BB-16D4F0EB7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3" name="Picture 2">
            <a:extLst>
              <a:ext uri="{FF2B5EF4-FFF2-40B4-BE49-F238E27FC236}">
                <a16:creationId xmlns:a16="http://schemas.microsoft.com/office/drawing/2014/main" id="{7E50D605-3CB9-F71B-4CAB-498FD1FFFCFC}"/>
              </a:ext>
            </a:extLst>
          </p:cNvPr>
          <p:cNvPicPr>
            <a:picLocks noChangeAspect="1"/>
          </p:cNvPicPr>
          <p:nvPr/>
        </p:nvPicPr>
        <p:blipFill>
          <a:blip r:embed="rId3">
            <a:extLst>
              <a:ext uri="{28A0092B-C50C-407E-A947-70E740481C1C}">
                <a14:useLocalDpi xmlns:a14="http://schemas.microsoft.com/office/drawing/2010/main" val="0"/>
              </a:ext>
            </a:extLst>
          </a:blip>
          <a:srcRect l="6039" r="6039"/>
          <a:stretch/>
        </p:blipFill>
        <p:spPr>
          <a:xfrm>
            <a:off x="20" y="1282"/>
            <a:ext cx="12191980" cy="6856718"/>
          </a:xfrm>
          <a:prstGeom prst="rect">
            <a:avLst/>
          </a:prstGeom>
        </p:spPr>
      </p:pic>
    </p:spTree>
    <p:extLst>
      <p:ext uri="{BB962C8B-B14F-4D97-AF65-F5344CB8AC3E}">
        <p14:creationId xmlns:p14="http://schemas.microsoft.com/office/powerpoint/2010/main" val="3819093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E096C4-F42D-E236-38EA-7CD8034D191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B02FD6-B48E-4C2D-1A55-525D9F304756}"/>
              </a:ext>
            </a:extLst>
          </p:cNvPr>
          <p:cNvPicPr>
            <a:picLocks noChangeAspect="1"/>
          </p:cNvPicPr>
          <p:nvPr/>
        </p:nvPicPr>
        <p:blipFill>
          <a:blip r:embed="rId3">
            <a:extLst>
              <a:ext uri="{28A0092B-C50C-407E-A947-70E740481C1C}">
                <a14:useLocalDpi xmlns:a14="http://schemas.microsoft.com/office/drawing/2010/main" val="0"/>
              </a:ext>
            </a:extLst>
          </a:blip>
          <a:srcRect t="954" b="3570"/>
          <a:stretch>
            <a:fillRect/>
          </a:stretch>
        </p:blipFill>
        <p:spPr>
          <a:xfrm>
            <a:off x="1544344" y="45720"/>
            <a:ext cx="9103312" cy="6766560"/>
          </a:xfrm>
          <a:prstGeom prst="rect">
            <a:avLst/>
          </a:prstGeom>
        </p:spPr>
      </p:pic>
    </p:spTree>
    <p:extLst>
      <p:ext uri="{BB962C8B-B14F-4D97-AF65-F5344CB8AC3E}">
        <p14:creationId xmlns:p14="http://schemas.microsoft.com/office/powerpoint/2010/main" val="3210410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0427EA-57E5-1235-4354-4F06DA44CD8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74B52E-8344-5EDC-C0AD-9569EE560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688" y="51156"/>
            <a:ext cx="9448513" cy="6755688"/>
          </a:xfrm>
          <a:prstGeom prst="rect">
            <a:avLst/>
          </a:prstGeom>
        </p:spPr>
      </p:pic>
      <p:pic>
        <p:nvPicPr>
          <p:cNvPr id="3" name="Picture 2">
            <a:extLst>
              <a:ext uri="{FF2B5EF4-FFF2-40B4-BE49-F238E27FC236}">
                <a16:creationId xmlns:a16="http://schemas.microsoft.com/office/drawing/2014/main" id="{85FA86D0-C67A-8879-F4FE-67D072E658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00" y="0"/>
            <a:ext cx="9601200" cy="6858000"/>
          </a:xfrm>
          <a:prstGeom prst="rect">
            <a:avLst/>
          </a:prstGeom>
        </p:spPr>
      </p:pic>
      <p:pic>
        <p:nvPicPr>
          <p:cNvPr id="4" name="Picture 3">
            <a:extLst>
              <a:ext uri="{FF2B5EF4-FFF2-40B4-BE49-F238E27FC236}">
                <a16:creationId xmlns:a16="http://schemas.microsoft.com/office/drawing/2014/main" id="{6CA41F86-A9E5-FC1C-1A75-DE6A377527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95400" y="0"/>
            <a:ext cx="9601200" cy="6858000"/>
          </a:xfrm>
          <a:prstGeom prst="rect">
            <a:avLst/>
          </a:prstGeom>
        </p:spPr>
      </p:pic>
    </p:spTree>
    <p:extLst>
      <p:ext uri="{BB962C8B-B14F-4D97-AF65-F5344CB8AC3E}">
        <p14:creationId xmlns:p14="http://schemas.microsoft.com/office/powerpoint/2010/main" val="1369572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8A2FF-BA6A-DAAF-BDB4-C1DFF4064B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55F292-5F26-A231-7611-23D8F3B508FB}"/>
              </a:ext>
            </a:extLst>
          </p:cNvPr>
          <p:cNvSpPr>
            <a:spLocks noGrp="1"/>
          </p:cNvSpPr>
          <p:nvPr>
            <p:ph type="title"/>
          </p:nvPr>
        </p:nvSpPr>
        <p:spPr/>
        <p:txBody>
          <a:bodyPr anchor="ctr" anchorCtr="0"/>
          <a:lstStyle/>
          <a:p>
            <a:pPr algn="ctr"/>
            <a:r>
              <a:rPr lang="en-US" dirty="0"/>
              <a:t>Contracts and Competitive Bidding</a:t>
            </a:r>
          </a:p>
        </p:txBody>
      </p:sp>
      <p:sp>
        <p:nvSpPr>
          <p:cNvPr id="5" name="Text Placeholder 4">
            <a:extLst>
              <a:ext uri="{FF2B5EF4-FFF2-40B4-BE49-F238E27FC236}">
                <a16:creationId xmlns:a16="http://schemas.microsoft.com/office/drawing/2014/main" id="{C05A7D19-EAD3-2E29-6EA2-A5FACB9E372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85302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01E5DF-2B86-2D45-8803-2ECF0353636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1F04B94-FF9D-FAE4-2A1D-B1CBDDB3B0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4" name="Picture 3">
            <a:extLst>
              <a:ext uri="{FF2B5EF4-FFF2-40B4-BE49-F238E27FC236}">
                <a16:creationId xmlns:a16="http://schemas.microsoft.com/office/drawing/2014/main" id="{F0313839-50A6-318D-9BD9-25E6E388E42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49005" y="139091"/>
            <a:ext cx="11693989" cy="6579817"/>
          </a:xfrm>
          <a:prstGeom prst="rect">
            <a:avLst/>
          </a:prstGeom>
        </p:spPr>
      </p:pic>
    </p:spTree>
    <p:extLst>
      <p:ext uri="{BB962C8B-B14F-4D97-AF65-F5344CB8AC3E}">
        <p14:creationId xmlns:p14="http://schemas.microsoft.com/office/powerpoint/2010/main" val="3991791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75BA4A-09CB-8B1F-8006-BA1D4C242A1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EC512AA-A118-FA14-8C5D-9B7C1D92E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4" name="Picture 3">
            <a:extLst>
              <a:ext uri="{FF2B5EF4-FFF2-40B4-BE49-F238E27FC236}">
                <a16:creationId xmlns:a16="http://schemas.microsoft.com/office/drawing/2014/main" id="{9487E79A-988A-7327-3FA7-86BDB70F73A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5693" y="228600"/>
            <a:ext cx="11565515" cy="6499818"/>
          </a:xfrm>
          <a:prstGeom prst="rect">
            <a:avLst/>
          </a:prstGeom>
        </p:spPr>
      </p:pic>
    </p:spTree>
    <p:extLst>
      <p:ext uri="{BB962C8B-B14F-4D97-AF65-F5344CB8AC3E}">
        <p14:creationId xmlns:p14="http://schemas.microsoft.com/office/powerpoint/2010/main" val="3877451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EBDD5A-65E8-0EFB-1B3A-87442774510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642F45D-187D-9A9A-6199-C5092324EF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825" y="139918"/>
            <a:ext cx="10450349" cy="6718082"/>
          </a:xfrm>
          <a:prstGeom prst="rect">
            <a:avLst/>
          </a:prstGeom>
        </p:spPr>
      </p:pic>
    </p:spTree>
    <p:extLst>
      <p:ext uri="{BB962C8B-B14F-4D97-AF65-F5344CB8AC3E}">
        <p14:creationId xmlns:p14="http://schemas.microsoft.com/office/powerpoint/2010/main" val="1699658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127C8D-15FC-F50C-AB68-0058D1F11D6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3B2E710-A2DB-35F0-D2BF-A187197109B0}"/>
              </a:ext>
            </a:extLst>
          </p:cNvPr>
          <p:cNvPicPr>
            <a:picLocks noChangeAspect="1"/>
          </p:cNvPicPr>
          <p:nvPr/>
        </p:nvPicPr>
        <p:blipFill>
          <a:blip r:embed="rId3"/>
          <a:stretch>
            <a:fillRect/>
          </a:stretch>
        </p:blipFill>
        <p:spPr>
          <a:xfrm>
            <a:off x="713326" y="643466"/>
            <a:ext cx="10765348" cy="5571067"/>
          </a:xfrm>
          <a:prstGeom prst="rect">
            <a:avLst/>
          </a:prstGeom>
        </p:spPr>
      </p:pic>
    </p:spTree>
    <p:extLst>
      <p:ext uri="{BB962C8B-B14F-4D97-AF65-F5344CB8AC3E}">
        <p14:creationId xmlns:p14="http://schemas.microsoft.com/office/powerpoint/2010/main" val="1784381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28731F-6051-2A9C-45B1-122DFEAA57C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1127D01-AD66-6385-5BF0-A27FBA751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3" name="Picture 2">
            <a:extLst>
              <a:ext uri="{FF2B5EF4-FFF2-40B4-BE49-F238E27FC236}">
                <a16:creationId xmlns:a16="http://schemas.microsoft.com/office/drawing/2014/main" id="{9DEA28C8-CF9F-3330-B33D-CE530FCC74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618" y="67553"/>
            <a:ext cx="10043552" cy="6695701"/>
          </a:xfrm>
          <a:prstGeom prst="rect">
            <a:avLst/>
          </a:prstGeom>
        </p:spPr>
      </p:pic>
    </p:spTree>
    <p:extLst>
      <p:ext uri="{BB962C8B-B14F-4D97-AF65-F5344CB8AC3E}">
        <p14:creationId xmlns:p14="http://schemas.microsoft.com/office/powerpoint/2010/main" val="22786387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5E02C3-3F41-AADE-DB3C-6B937A06A86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ECF195F-CDF5-82CB-3846-FD2D10F901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681" y="0"/>
            <a:ext cx="10247278" cy="6831518"/>
          </a:xfrm>
          <a:prstGeom prst="rect">
            <a:avLst/>
          </a:prstGeom>
        </p:spPr>
      </p:pic>
    </p:spTree>
    <p:extLst>
      <p:ext uri="{BB962C8B-B14F-4D97-AF65-F5344CB8AC3E}">
        <p14:creationId xmlns:p14="http://schemas.microsoft.com/office/powerpoint/2010/main" val="2129783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04F21E-FE9A-C805-0CDF-74A2CE9A71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81A3661-EFD6-B818-43E1-7B135C33B0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6373" y="0"/>
            <a:ext cx="9779254" cy="6845478"/>
          </a:xfrm>
          <a:prstGeom prst="rect">
            <a:avLst/>
          </a:prstGeom>
        </p:spPr>
      </p:pic>
    </p:spTree>
    <p:extLst>
      <p:ext uri="{BB962C8B-B14F-4D97-AF65-F5344CB8AC3E}">
        <p14:creationId xmlns:p14="http://schemas.microsoft.com/office/powerpoint/2010/main" val="2597176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E9B4C-FCA4-8B5A-4610-1C6D2DC768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29F543-C452-FE49-AD3B-99BBE813F70F}"/>
              </a:ext>
            </a:extLst>
          </p:cNvPr>
          <p:cNvSpPr>
            <a:spLocks noGrp="1"/>
          </p:cNvSpPr>
          <p:nvPr>
            <p:ph type="title"/>
          </p:nvPr>
        </p:nvSpPr>
        <p:spPr/>
        <p:txBody>
          <a:bodyPr anchor="ctr" anchorCtr="0"/>
          <a:lstStyle/>
          <a:p>
            <a:pPr algn="ctr"/>
            <a:r>
              <a:rPr lang="en-US" dirty="0"/>
              <a:t>Auction Market Concentration</a:t>
            </a:r>
          </a:p>
        </p:txBody>
      </p:sp>
      <p:sp>
        <p:nvSpPr>
          <p:cNvPr id="5" name="Text Placeholder 4">
            <a:extLst>
              <a:ext uri="{FF2B5EF4-FFF2-40B4-BE49-F238E27FC236}">
                <a16:creationId xmlns:a16="http://schemas.microsoft.com/office/drawing/2014/main" id="{2E05F9DB-9D16-A51B-54AF-43F92C411E4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65181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74093-241F-7F28-55C1-6360830DF8B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C1813C3-58C3-04A6-3C21-D147E4B4EF4F}"/>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F1A02625-1950-23FE-D5F5-B8CA67C5C7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429"/>
            <a:ext cx="12192000" cy="6966858"/>
          </a:xfrm>
          <a:prstGeom prst="rect">
            <a:avLst/>
          </a:prstGeom>
        </p:spPr>
      </p:pic>
    </p:spTree>
    <p:extLst>
      <p:ext uri="{BB962C8B-B14F-4D97-AF65-F5344CB8AC3E}">
        <p14:creationId xmlns:p14="http://schemas.microsoft.com/office/powerpoint/2010/main" val="2565294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A80B1B-F5A0-C107-437B-262C9971188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7A68B33-BB1A-9B87-0146-E1B908C9CE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6" name="Picture 5">
            <a:extLst>
              <a:ext uri="{FF2B5EF4-FFF2-40B4-BE49-F238E27FC236}">
                <a16:creationId xmlns:a16="http://schemas.microsoft.com/office/drawing/2014/main" id="{82BE3894-C4B9-A4CC-7B02-36BA1A3B36E9}"/>
              </a:ext>
            </a:extLst>
          </p:cNvPr>
          <p:cNvPicPr>
            <a:picLocks noChangeAspect="1"/>
          </p:cNvPicPr>
          <p:nvPr/>
        </p:nvPicPr>
        <p:blipFill>
          <a:blip r:embed="rId3"/>
          <a:stretch>
            <a:fillRect/>
          </a:stretch>
        </p:blipFill>
        <p:spPr>
          <a:xfrm>
            <a:off x="0" y="658488"/>
            <a:ext cx="12192000" cy="5541024"/>
          </a:xfrm>
          <a:prstGeom prst="rect">
            <a:avLst/>
          </a:prstGeom>
        </p:spPr>
      </p:pic>
    </p:spTree>
    <p:extLst>
      <p:ext uri="{BB962C8B-B14F-4D97-AF65-F5344CB8AC3E}">
        <p14:creationId xmlns:p14="http://schemas.microsoft.com/office/powerpoint/2010/main" val="736531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416F9B-A778-DC3B-905A-0E2FECCFC8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CEFC4E1-14F2-E254-E253-CFEF779CCA3B}"/>
              </a:ext>
            </a:extLst>
          </p:cNvPr>
          <p:cNvPicPr>
            <a:picLocks noChangeAspect="1"/>
          </p:cNvPicPr>
          <p:nvPr/>
        </p:nvPicPr>
        <p:blipFill>
          <a:blip r:embed="rId3"/>
          <a:stretch>
            <a:fillRect/>
          </a:stretch>
        </p:blipFill>
        <p:spPr>
          <a:xfrm>
            <a:off x="68844" y="825909"/>
            <a:ext cx="12054312" cy="5206181"/>
          </a:xfrm>
          <a:prstGeom prst="rect">
            <a:avLst/>
          </a:prstGeom>
        </p:spPr>
      </p:pic>
    </p:spTree>
    <p:extLst>
      <p:ext uri="{BB962C8B-B14F-4D97-AF65-F5344CB8AC3E}">
        <p14:creationId xmlns:p14="http://schemas.microsoft.com/office/powerpoint/2010/main" val="2470056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BF6C1D-733C-7B19-2DF8-4615AB2E3A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9E18C1-9409-8F65-885B-CB5705CC48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124" y="0"/>
            <a:ext cx="9217751" cy="6452425"/>
          </a:xfrm>
          <a:prstGeom prst="rect">
            <a:avLst/>
          </a:prstGeom>
        </p:spPr>
      </p:pic>
    </p:spTree>
    <p:extLst>
      <p:ext uri="{BB962C8B-B14F-4D97-AF65-F5344CB8AC3E}">
        <p14:creationId xmlns:p14="http://schemas.microsoft.com/office/powerpoint/2010/main" val="2505867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E983C-5134-DAFB-F8CD-FBBF6D8BC4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A080FE-95FD-8C4B-76E7-6BD0974CE17A}"/>
              </a:ext>
            </a:extLst>
          </p:cNvPr>
          <p:cNvSpPr>
            <a:spLocks noGrp="1"/>
          </p:cNvSpPr>
          <p:nvPr>
            <p:ph type="title"/>
          </p:nvPr>
        </p:nvSpPr>
        <p:spPr/>
        <p:txBody>
          <a:bodyPr anchor="ctr" anchorCtr="0"/>
          <a:lstStyle/>
          <a:p>
            <a:pPr algn="ctr"/>
            <a:r>
              <a:rPr lang="en-US" dirty="0"/>
              <a:t>Possible Extensions</a:t>
            </a:r>
            <a:br>
              <a:rPr lang="en-US" dirty="0"/>
            </a:br>
            <a:r>
              <a:rPr lang="en-US" sz="4400" dirty="0"/>
              <a:t>Risk Scoring and Improved Interventions Rules</a:t>
            </a:r>
            <a:endParaRPr lang="en-US" dirty="0"/>
          </a:p>
        </p:txBody>
      </p:sp>
      <p:sp>
        <p:nvSpPr>
          <p:cNvPr id="5" name="Text Placeholder 4">
            <a:extLst>
              <a:ext uri="{FF2B5EF4-FFF2-40B4-BE49-F238E27FC236}">
                <a16:creationId xmlns:a16="http://schemas.microsoft.com/office/drawing/2014/main" id="{7A41AE37-37D7-1A88-53CB-799587878C5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32493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0A425-BD3A-84BF-AC0F-EBBC754EE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48D9C-BCDC-0164-AB59-BCE331D81B91}"/>
              </a:ext>
            </a:extLst>
          </p:cNvPr>
          <p:cNvSpPr>
            <a:spLocks noGrp="1"/>
          </p:cNvSpPr>
          <p:nvPr>
            <p:ph type="title"/>
          </p:nvPr>
        </p:nvSpPr>
        <p:spPr>
          <a:xfrm>
            <a:off x="109728" y="137161"/>
            <a:ext cx="11244072" cy="1553528"/>
          </a:xfrm>
        </p:spPr>
        <p:txBody>
          <a:bodyPr/>
          <a:lstStyle/>
          <a:p>
            <a:pPr algn="ctr"/>
            <a:r>
              <a:rPr lang="en-US" dirty="0"/>
              <a:t>Finding an Improved recommendation rule</a:t>
            </a:r>
          </a:p>
        </p:txBody>
      </p:sp>
      <p:sp>
        <p:nvSpPr>
          <p:cNvPr id="3" name="Content Placeholder 2">
            <a:extLst>
              <a:ext uri="{FF2B5EF4-FFF2-40B4-BE49-F238E27FC236}">
                <a16:creationId xmlns:a16="http://schemas.microsoft.com/office/drawing/2014/main" id="{FB9819CB-FC72-C086-3640-FD44E384900C}"/>
              </a:ext>
            </a:extLst>
          </p:cNvPr>
          <p:cNvSpPr>
            <a:spLocks noGrp="1"/>
          </p:cNvSpPr>
          <p:nvPr>
            <p:ph idx="1"/>
          </p:nvPr>
        </p:nvSpPr>
        <p:spPr>
          <a:xfrm>
            <a:off x="230124" y="1344168"/>
            <a:ext cx="11731752" cy="5295011"/>
          </a:xfrm>
        </p:spPr>
        <p:txBody>
          <a:bodyPr>
            <a:normAutofit fontScale="92500" lnSpcReduction="20000"/>
          </a:bodyPr>
          <a:lstStyle/>
          <a:p>
            <a:pPr marL="0" indent="0">
              <a:buNone/>
            </a:pPr>
            <a:r>
              <a:rPr lang="en-US" dirty="0"/>
              <a:t>What we know right now:</a:t>
            </a:r>
          </a:p>
          <a:p>
            <a:pPr marL="514350" indent="-514350">
              <a:buFont typeface="+mj-lt"/>
              <a:buAutoNum type="arabicPeriod"/>
            </a:pPr>
            <a:r>
              <a:rPr lang="en-US" dirty="0"/>
              <a:t>Current analysis suggest adjusters’ push claims to auctions at 4-years.</a:t>
            </a:r>
          </a:p>
          <a:p>
            <a:pPr marL="514350" indent="-514350">
              <a:buFont typeface="+mj-lt"/>
              <a:buAutoNum type="arabicPeriod"/>
            </a:pPr>
            <a:r>
              <a:rPr lang="en-US" dirty="0"/>
              <a:t>Cost intervention is not clear at this point of the analysis</a:t>
            </a:r>
          </a:p>
          <a:p>
            <a:pPr marL="514350" indent="-514350">
              <a:buFont typeface="+mj-lt"/>
              <a:buAutoNum type="arabicPeriod"/>
            </a:pPr>
            <a:endParaRPr lang="en-US" dirty="0"/>
          </a:p>
          <a:p>
            <a:pPr marL="0" indent="0">
              <a:buNone/>
            </a:pPr>
            <a:r>
              <a:rPr lang="en-US" b="1" dirty="0"/>
              <a:t>Can we do better?</a:t>
            </a:r>
          </a:p>
          <a:p>
            <a:pPr marL="0" indent="0">
              <a:buNone/>
            </a:pPr>
            <a:r>
              <a:rPr lang="en-US" dirty="0"/>
              <a:t>If we know the value/return to competitive bidding:</a:t>
            </a:r>
          </a:p>
          <a:p>
            <a:pPr marL="914400" lvl="1" indent="-457200">
              <a:buFont typeface="+mj-lt"/>
              <a:buAutoNum type="arabicPeriod"/>
            </a:pPr>
            <a:r>
              <a:rPr lang="en-US" dirty="0"/>
              <a:t>Cost savings: Does the bidding process save PA money?</a:t>
            </a:r>
          </a:p>
          <a:p>
            <a:pPr marL="914400" lvl="1" indent="-457200">
              <a:buFont typeface="+mj-lt"/>
              <a:buAutoNum type="arabicPeriod"/>
            </a:pPr>
            <a:r>
              <a:rPr lang="en-US" dirty="0"/>
              <a:t>Time Savings: Does the bidding process expedited remediation process?</a:t>
            </a:r>
          </a:p>
          <a:p>
            <a:pPr marL="914400" lvl="1" indent="-457200">
              <a:buFont typeface="+mj-lt"/>
              <a:buAutoNum type="arabicPeriod"/>
            </a:pPr>
            <a:r>
              <a:rPr lang="en-US" i="1" dirty="0"/>
              <a:t>Quality Improvements: Tough to measure?</a:t>
            </a:r>
            <a:r>
              <a:rPr lang="en-US" b="1" i="1" dirty="0"/>
              <a:t> </a:t>
            </a:r>
            <a:r>
              <a:rPr lang="en-US" dirty="0"/>
              <a:t>Does the auction induce higher quality work?	</a:t>
            </a:r>
          </a:p>
          <a:p>
            <a:pPr marL="0" indent="0">
              <a:buNone/>
            </a:pPr>
            <a:r>
              <a:rPr lang="en-US" dirty="0"/>
              <a:t>Then we can optimize the claim to bidding pipeline to potentially reduce costs and speed up remediation.</a:t>
            </a:r>
          </a:p>
          <a:p>
            <a:pPr marL="0" indent="0">
              <a:buNone/>
            </a:pPr>
            <a:r>
              <a:rPr lang="en-US" b="1" dirty="0"/>
              <a:t>Current challenge: </a:t>
            </a:r>
            <a:r>
              <a:rPr lang="en-US" dirty="0"/>
              <a:t> The data provided and the process as I understand it doesn’t allow us to answer those question at this time.</a:t>
            </a:r>
            <a:endParaRPr lang="en-US" b="1" dirty="0"/>
          </a:p>
        </p:txBody>
      </p:sp>
    </p:spTree>
    <p:extLst>
      <p:ext uri="{BB962C8B-B14F-4D97-AF65-F5344CB8AC3E}">
        <p14:creationId xmlns:p14="http://schemas.microsoft.com/office/powerpoint/2010/main" val="352811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3906B-7C5D-DFDF-23AC-1C618FDF8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47091-BE89-51C8-2CC5-DB6B38AFF50C}"/>
              </a:ext>
            </a:extLst>
          </p:cNvPr>
          <p:cNvSpPr>
            <a:spLocks noGrp="1"/>
          </p:cNvSpPr>
          <p:nvPr>
            <p:ph type="title"/>
          </p:nvPr>
        </p:nvSpPr>
        <p:spPr>
          <a:xfrm>
            <a:off x="137160" y="0"/>
            <a:ext cx="11244072" cy="1553528"/>
          </a:xfrm>
        </p:spPr>
        <p:txBody>
          <a:bodyPr/>
          <a:lstStyle/>
          <a:p>
            <a:pPr algn="ctr"/>
            <a:r>
              <a:rPr lang="en-US" dirty="0"/>
              <a:t>Finding an Improved recommendation rule</a:t>
            </a:r>
          </a:p>
        </p:txBody>
      </p:sp>
      <p:sp>
        <p:nvSpPr>
          <p:cNvPr id="3" name="Content Placeholder 2">
            <a:extLst>
              <a:ext uri="{FF2B5EF4-FFF2-40B4-BE49-F238E27FC236}">
                <a16:creationId xmlns:a16="http://schemas.microsoft.com/office/drawing/2014/main" id="{4C7C2901-562A-E585-3B7C-20509B5F8B35}"/>
              </a:ext>
            </a:extLst>
          </p:cNvPr>
          <p:cNvSpPr>
            <a:spLocks noGrp="1"/>
          </p:cNvSpPr>
          <p:nvPr>
            <p:ph idx="1"/>
          </p:nvPr>
        </p:nvSpPr>
        <p:spPr>
          <a:xfrm>
            <a:off x="230124" y="1344168"/>
            <a:ext cx="11731752" cy="5295011"/>
          </a:xfrm>
        </p:spPr>
        <p:txBody>
          <a:bodyPr>
            <a:normAutofit/>
          </a:bodyPr>
          <a:lstStyle/>
          <a:p>
            <a:pPr marL="0" indent="0">
              <a:buNone/>
            </a:pPr>
            <a:r>
              <a:rPr lang="en-US" sz="3600" dirty="0"/>
              <a:t>How does this work?</a:t>
            </a:r>
            <a:br>
              <a:rPr lang="en-US" sz="3600" dirty="0"/>
            </a:br>
            <a:endParaRPr lang="en-US" sz="3600" dirty="0"/>
          </a:p>
          <a:p>
            <a:pPr marL="514350" indent="-514350">
              <a:buAutoNum type="arabicParenR"/>
            </a:pPr>
            <a:r>
              <a:rPr lang="en-US" sz="3600" dirty="0"/>
              <a:t>With known </a:t>
            </a:r>
            <a:r>
              <a:rPr lang="en-US" sz="3600" b="1" dirty="0"/>
              <a:t>returns</a:t>
            </a:r>
            <a:r>
              <a:rPr lang="en-US" sz="3600" dirty="0"/>
              <a:t> + a </a:t>
            </a:r>
            <a:r>
              <a:rPr lang="en-US" sz="3600" b="1" dirty="0"/>
              <a:t>risk scoring algorithm </a:t>
            </a:r>
          </a:p>
          <a:p>
            <a:pPr marL="457200" lvl="1" indent="0">
              <a:buNone/>
            </a:pPr>
            <a:r>
              <a:rPr lang="en-US" sz="3200" dirty="0"/>
              <a:t>We can think about different ways to target claims and calculate the cost/time/quality changes.</a:t>
            </a:r>
          </a:p>
          <a:p>
            <a:pPr marL="457200" lvl="1" indent="0">
              <a:buNone/>
            </a:pPr>
            <a:endParaRPr lang="en-US" sz="3200" dirty="0"/>
          </a:p>
          <a:p>
            <a:pPr marL="0" indent="0">
              <a:buNone/>
            </a:pPr>
            <a:r>
              <a:rPr lang="en-US" sz="3600" dirty="0"/>
              <a:t>Next slides show the workflow</a:t>
            </a:r>
          </a:p>
        </p:txBody>
      </p:sp>
    </p:spTree>
    <p:extLst>
      <p:ext uri="{BB962C8B-B14F-4D97-AF65-F5344CB8AC3E}">
        <p14:creationId xmlns:p14="http://schemas.microsoft.com/office/powerpoint/2010/main" val="2760557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1DF5A8-26C4-8195-53CD-83800DE7718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FF8D214-81BF-783D-6D9E-6F3642C13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012" y="0"/>
            <a:ext cx="10111903" cy="6741268"/>
          </a:xfrm>
          <a:prstGeom prst="rect">
            <a:avLst/>
          </a:prstGeom>
        </p:spPr>
      </p:pic>
    </p:spTree>
    <p:extLst>
      <p:ext uri="{BB962C8B-B14F-4D97-AF65-F5344CB8AC3E}">
        <p14:creationId xmlns:p14="http://schemas.microsoft.com/office/powerpoint/2010/main" val="2521830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AE23D98A-C752-B9D3-DFBF-4E4F6BB2A492}"/>
              </a:ext>
            </a:extLst>
          </p:cNvPr>
          <p:cNvPicPr>
            <a:picLocks noChangeAspect="1"/>
          </p:cNvPicPr>
          <p:nvPr/>
        </p:nvPicPr>
        <p:blipFill>
          <a:blip r:embed="rId3"/>
          <a:srcRect r="1" b="5185"/>
          <a:stretch>
            <a:fillRect/>
          </a:stretch>
        </p:blipFill>
        <p:spPr>
          <a:xfrm>
            <a:off x="20" y="1282"/>
            <a:ext cx="12191980" cy="6856718"/>
          </a:xfrm>
          <a:prstGeom prst="rect">
            <a:avLst/>
          </a:prstGeom>
        </p:spPr>
      </p:pic>
    </p:spTree>
    <p:extLst>
      <p:ext uri="{BB962C8B-B14F-4D97-AF65-F5344CB8AC3E}">
        <p14:creationId xmlns:p14="http://schemas.microsoft.com/office/powerpoint/2010/main" val="3499508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855B9-28E2-CF3E-22F3-F8C4C89A720F}"/>
              </a:ext>
            </a:extLst>
          </p:cNvPr>
          <p:cNvSpPr>
            <a:spLocks noGrp="1"/>
          </p:cNvSpPr>
          <p:nvPr>
            <p:ph type="title"/>
          </p:nvPr>
        </p:nvSpPr>
        <p:spPr/>
        <p:txBody>
          <a:bodyPr/>
          <a:lstStyle/>
          <a:p>
            <a:r>
              <a:rPr lang="en-US" dirty="0"/>
              <a:t>Whats needed to go further?</a:t>
            </a:r>
          </a:p>
        </p:txBody>
      </p:sp>
      <p:sp>
        <p:nvSpPr>
          <p:cNvPr id="3" name="Content Placeholder 2">
            <a:extLst>
              <a:ext uri="{FF2B5EF4-FFF2-40B4-BE49-F238E27FC236}">
                <a16:creationId xmlns:a16="http://schemas.microsoft.com/office/drawing/2014/main" id="{EA37B512-D029-724E-94E1-2F4D68CDEE0C}"/>
              </a:ext>
            </a:extLst>
          </p:cNvPr>
          <p:cNvSpPr>
            <a:spLocks noGrp="1"/>
          </p:cNvSpPr>
          <p:nvPr>
            <p:ph idx="1"/>
          </p:nvPr>
        </p:nvSpPr>
        <p:spPr>
          <a:xfrm>
            <a:off x="418289" y="1498060"/>
            <a:ext cx="10935511" cy="4678903"/>
          </a:xfrm>
        </p:spPr>
        <p:txBody>
          <a:bodyPr>
            <a:normAutofit fontScale="92500" lnSpcReduction="20000"/>
          </a:bodyPr>
          <a:lstStyle/>
          <a:p>
            <a:pPr marL="0" indent="0">
              <a:buNone/>
            </a:pPr>
            <a:r>
              <a:rPr lang="en-US" dirty="0"/>
              <a:t>Two data questions and one bigger design questions</a:t>
            </a:r>
            <a:br>
              <a:rPr lang="en-US" dirty="0"/>
            </a:br>
            <a:br>
              <a:rPr lang="en-US" dirty="0"/>
            </a:br>
            <a:r>
              <a:rPr lang="en-US" dirty="0"/>
              <a:t>1) Is it possible to get claims adjusters assigned for all claims not just those in the contracts?</a:t>
            </a:r>
          </a:p>
          <a:p>
            <a:pPr marL="0" indent="0">
              <a:buNone/>
            </a:pPr>
            <a:br>
              <a:rPr lang="en-US" dirty="0"/>
            </a:br>
            <a:r>
              <a:rPr lang="en-US" dirty="0"/>
              <a:t>2) Is it feasible to get the claims cost flows? For example:</a:t>
            </a:r>
          </a:p>
          <a:p>
            <a:pPr marL="0" indent="0">
              <a:buNone/>
            </a:pPr>
            <a:r>
              <a:rPr lang="en-US" dirty="0"/>
              <a:t>we see like the year-month spend for claim id [abc123]? </a:t>
            </a:r>
          </a:p>
          <a:p>
            <a:pPr marL="0" indent="0">
              <a:buNone/>
            </a:pPr>
            <a:endParaRPr lang="en-US" dirty="0"/>
          </a:p>
          <a:p>
            <a:pPr marL="0" indent="0">
              <a:buNone/>
            </a:pPr>
            <a:r>
              <a:rPr lang="en-US" dirty="0"/>
              <a:t>3) Improved Auction data? – currently we only know the winners to really study the returns to auctions we need more info of what happens during each auction: full bid lists, SOW milestones? </a:t>
            </a:r>
            <a:r>
              <a:rPr lang="en-US" dirty="0" err="1"/>
              <a:t>etc</a:t>
            </a:r>
            <a:endParaRPr lang="en-US" dirty="0"/>
          </a:p>
          <a:p>
            <a:pPr marL="0" indent="0">
              <a:buNone/>
            </a:pPr>
            <a:endParaRPr lang="en-US" dirty="0"/>
          </a:p>
          <a:p>
            <a:pPr marL="0" indent="0">
              <a:buNone/>
            </a:pPr>
            <a:r>
              <a:rPr lang="en-US" dirty="0"/>
              <a:t>3) Feasibility of data-driven claim to auction policy experiment?</a:t>
            </a:r>
          </a:p>
        </p:txBody>
      </p:sp>
    </p:spTree>
    <p:extLst>
      <p:ext uri="{BB962C8B-B14F-4D97-AF65-F5344CB8AC3E}">
        <p14:creationId xmlns:p14="http://schemas.microsoft.com/office/powerpoint/2010/main" val="3794841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476</TotalTime>
  <Words>5564</Words>
  <Application>Microsoft Office PowerPoint</Application>
  <PresentationFormat>Widescreen</PresentationFormat>
  <Paragraphs>270</Paragraphs>
  <Slides>36</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Aptos Display</vt:lpstr>
      <vt:lpstr>Arial</vt:lpstr>
      <vt:lpstr>Wingdings</vt:lpstr>
      <vt:lpstr>Office Theme</vt:lpstr>
      <vt:lpstr>PA USTIF  Competitive Bidding Research Update</vt:lpstr>
      <vt:lpstr>PowerPoint Presentation</vt:lpstr>
      <vt:lpstr>What is the Unit of Analysis?</vt:lpstr>
      <vt:lpstr>Comparing Risk Detection Methods</vt:lpstr>
      <vt:lpstr>Drivers of Claim Denial</vt:lpstr>
      <vt:lpstr>PowerPoint Presentation</vt:lpstr>
      <vt:lpstr>PowerPoint Presentation</vt:lpstr>
      <vt:lpstr>PowerPoint Presentation</vt:lpstr>
      <vt:lpstr>Drivers of Claim Cost</vt:lpstr>
      <vt:lpstr>PowerPoint Presentation</vt:lpstr>
      <vt:lpstr>PowerPoint Presentation</vt:lpstr>
      <vt:lpstr>PowerPoint Presentation</vt:lpstr>
      <vt:lpstr>PowerPoint Presentation</vt:lpstr>
      <vt:lpstr>Drivers of Claim Duration</vt:lpstr>
      <vt:lpstr>PowerPoint Presentation</vt:lpstr>
      <vt:lpstr>PowerPoint Presentation</vt:lpstr>
      <vt:lpstr>PowerPoint Presentation</vt:lpstr>
      <vt:lpstr>Contracts and Competitive Bidding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Auction Market Concentration</vt:lpstr>
      <vt:lpstr>PowerPoint Presentation</vt:lpstr>
      <vt:lpstr>PowerPoint Presentation</vt:lpstr>
      <vt:lpstr>PowerPoint Presentation</vt:lpstr>
      <vt:lpstr>PowerPoint Presentation</vt:lpstr>
      <vt:lpstr>Possible Extensions Risk Scoring and Improved Interventions Rules</vt:lpstr>
      <vt:lpstr>Finding an Improved recommendation rule</vt:lpstr>
      <vt:lpstr>Finding an Improved recommendation rule</vt:lpstr>
      <vt:lpstr>PowerPoint Presentation</vt:lpstr>
      <vt:lpstr>PowerPoint Presentation</vt:lpstr>
      <vt:lpstr>Whats needed to go further?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Kaleb Javier</dc:creator>
  <cp:lastModifiedBy>Kaleb Javier</cp:lastModifiedBy>
  <cp:revision>10</cp:revision>
  <dcterms:created xsi:type="dcterms:W3CDTF">2026-01-16T16:10:05Z</dcterms:created>
  <dcterms:modified xsi:type="dcterms:W3CDTF">2026-01-17T00:07:03Z</dcterms:modified>
</cp:coreProperties>
</file>